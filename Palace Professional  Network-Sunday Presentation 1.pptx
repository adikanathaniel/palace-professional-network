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6" r:id="rId3"/>
    <p:sldId id="258" r:id="rId4"/>
    <p:sldId id="260" r:id="rId5"/>
    <p:sldId id="282" r:id="rId6"/>
    <p:sldId id="283" r:id="rId7"/>
    <p:sldId id="285" r:id="rId8"/>
    <p:sldId id="286" r:id="rId9"/>
    <p:sldId id="268" r:id="rId10"/>
    <p:sldId id="270" r:id="rId11"/>
    <p:sldId id="271" r:id="rId12"/>
    <p:sldId id="272" r:id="rId13"/>
    <p:sldId id="284" r:id="rId14"/>
    <p:sldId id="280" r:id="rId15"/>
    <p:sldId id="275" r:id="rId16"/>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660066"/>
    <a:srgbClr val="FF99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ng, Isaac Ofoli GIZ GH" userId="0f36d2d7-a507-4c32-ae82-a9cc8555384b" providerId="ADAL" clId="{79C8C585-779B-4793-8DB4-920FB0914389}"/>
    <pc:docChg chg="custSel modSld">
      <pc:chgData name="Annang, Isaac Ofoli GIZ GH" userId="0f36d2d7-a507-4c32-ae82-a9cc8555384b" providerId="ADAL" clId="{79C8C585-779B-4793-8DB4-920FB0914389}" dt="2026-08-09T16:57:49.287" v="28" actId="20577"/>
      <pc:docMkLst>
        <pc:docMk/>
      </pc:docMkLst>
      <pc:sldChg chg="modSp mod">
        <pc:chgData name="Annang, Isaac Ofoli GIZ GH" userId="0f36d2d7-a507-4c32-ae82-a9cc8555384b" providerId="ADAL" clId="{79C8C585-779B-4793-8DB4-920FB0914389}" dt="2026-08-09T16:57:49.287" v="28" actId="20577"/>
        <pc:sldMkLst>
          <pc:docMk/>
          <pc:sldMk cId="72960066" sldId="282"/>
        </pc:sldMkLst>
        <pc:spChg chg="mod">
          <ac:chgData name="Annang, Isaac Ofoli GIZ GH" userId="0f36d2d7-a507-4c32-ae82-a9cc8555384b" providerId="ADAL" clId="{79C8C585-779B-4793-8DB4-920FB0914389}" dt="2026-08-09T16:57:49.287" v="28" actId="20577"/>
          <ac:spMkLst>
            <pc:docMk/>
            <pc:sldMk cId="72960066" sldId="282"/>
            <ac:spMk id="16" creationId="{D5412F8C-465B-4FEB-D80C-8C0143448F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627F35-16B6-46F8-BED4-9DD52C331657}" type="datetimeFigureOut">
              <a:rPr lang="en-GH" smtClean="0"/>
              <a:t>09/08/2026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493CF-2066-4F21-9A8A-F9EBFCE9FA14}" type="slidenum">
              <a:rPr lang="en-GH" smtClean="0"/>
              <a:t>‹#›</a:t>
            </a:fld>
            <a:endParaRPr lang="en-GH"/>
          </a:p>
        </p:txBody>
      </p:sp>
    </p:spTree>
    <p:extLst>
      <p:ext uri="{BB962C8B-B14F-4D97-AF65-F5344CB8AC3E}">
        <p14:creationId xmlns:p14="http://schemas.microsoft.com/office/powerpoint/2010/main" val="3395450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H"/>
          </a:p>
        </p:txBody>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B17493CF-2066-4F21-9A8A-F9EBFCE9FA14}" type="slidenum">
              <a:rPr lang="en-GH" smtClean="0"/>
              <a:t>1</a:t>
            </a:fld>
            <a:endParaRPr lang="en-GH"/>
          </a:p>
        </p:txBody>
      </p:sp>
    </p:spTree>
    <p:extLst>
      <p:ext uri="{BB962C8B-B14F-4D97-AF65-F5344CB8AC3E}">
        <p14:creationId xmlns:p14="http://schemas.microsoft.com/office/powerpoint/2010/main" val="1240617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B17493CF-2066-4F21-9A8A-F9EBFCE9FA14}" type="slidenum">
              <a:rPr lang="en-GH" smtClean="0"/>
              <a:t>2</a:t>
            </a:fld>
            <a:endParaRPr lang="en-GH"/>
          </a:p>
        </p:txBody>
      </p:sp>
    </p:spTree>
    <p:extLst>
      <p:ext uri="{BB962C8B-B14F-4D97-AF65-F5344CB8AC3E}">
        <p14:creationId xmlns:p14="http://schemas.microsoft.com/office/powerpoint/2010/main" val="3663711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6D186-4E90-FCE6-4A07-C6920DABC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1AA8E-691E-1431-E221-A40DB8E71240}"/>
              </a:ext>
            </a:extLst>
          </p:cNvPr>
          <p:cNvSpPr>
            <a:spLocks noGrp="1" noRot="1" noChangeAspect="1"/>
          </p:cNvSpPr>
          <p:nvPr>
            <p:ph type="sldImg"/>
          </p:nvPr>
        </p:nvSpPr>
        <p:spPr/>
        <p:txBody>
          <a:bodyPr/>
          <a:lstStyle/>
          <a:p>
            <a:endParaRPr lang="en-GH"/>
          </a:p>
        </p:txBody>
      </p:sp>
      <p:sp>
        <p:nvSpPr>
          <p:cNvPr id="3" name="Notes Placeholder 2">
            <a:extLst>
              <a:ext uri="{FF2B5EF4-FFF2-40B4-BE49-F238E27FC236}">
                <a16:creationId xmlns:a16="http://schemas.microsoft.com/office/drawing/2014/main" id="{2ECA1354-AB03-2955-0045-11ECE87E63FF}"/>
              </a:ext>
            </a:extLst>
          </p:cNvPr>
          <p:cNvSpPr>
            <a:spLocks noGrp="1"/>
          </p:cNvSpPr>
          <p:nvPr>
            <p:ph type="body" idx="1"/>
          </p:nvPr>
        </p:nvSpPr>
        <p:spPr/>
        <p:txBody>
          <a:bodyPr/>
          <a:lstStyle/>
          <a:p>
            <a:endParaRPr lang="en-GH" dirty="0"/>
          </a:p>
        </p:txBody>
      </p:sp>
      <p:sp>
        <p:nvSpPr>
          <p:cNvPr id="4" name="Slide Number Placeholder 3">
            <a:extLst>
              <a:ext uri="{FF2B5EF4-FFF2-40B4-BE49-F238E27FC236}">
                <a16:creationId xmlns:a16="http://schemas.microsoft.com/office/drawing/2014/main" id="{51BEBCEB-3DF0-EEC1-5AB5-2BA938B2F446}"/>
              </a:ext>
            </a:extLst>
          </p:cNvPr>
          <p:cNvSpPr>
            <a:spLocks noGrp="1"/>
          </p:cNvSpPr>
          <p:nvPr>
            <p:ph type="sldNum" sz="quarter" idx="5"/>
          </p:nvPr>
        </p:nvSpPr>
        <p:spPr/>
        <p:txBody>
          <a:bodyPr/>
          <a:lstStyle/>
          <a:p>
            <a:fld id="{B17493CF-2066-4F21-9A8A-F9EBFCE9FA14}" type="slidenum">
              <a:rPr lang="en-GH" smtClean="0"/>
              <a:t>15</a:t>
            </a:fld>
            <a:endParaRPr lang="en-GH"/>
          </a:p>
        </p:txBody>
      </p:sp>
    </p:spTree>
    <p:extLst>
      <p:ext uri="{BB962C8B-B14F-4D97-AF65-F5344CB8AC3E}">
        <p14:creationId xmlns:p14="http://schemas.microsoft.com/office/powerpoint/2010/main" val="2489928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306A-B92B-E295-14DD-40224E5555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a:extLst>
              <a:ext uri="{FF2B5EF4-FFF2-40B4-BE49-F238E27FC236}">
                <a16:creationId xmlns:a16="http://schemas.microsoft.com/office/drawing/2014/main" id="{B0B3064F-8D7C-9948-01FB-F83686A8F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a:extLst>
              <a:ext uri="{FF2B5EF4-FFF2-40B4-BE49-F238E27FC236}">
                <a16:creationId xmlns:a16="http://schemas.microsoft.com/office/drawing/2014/main" id="{6DB6F19E-5B0B-8EFF-B548-503D2C80A326}"/>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642C4D2F-7080-681B-B5CF-DA75FF8E0257}"/>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D86C029-2B78-D60D-866C-49A6C008F4FA}"/>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2619592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956D6-2CC5-3706-8FD9-E2F2C00DEDF5}"/>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85F79CEC-82A5-2FF6-29E0-89C9EE08C3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6320FA11-0213-FDEB-385E-9755DB624440}"/>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5451F555-89FF-D562-84CE-47DF926E3675}"/>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A566FAAB-C0F4-79FE-0F62-D7B5E62A1EEC}"/>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3078279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BD1AA-2296-E0D5-BD10-FEBEC6F7B3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a:extLst>
              <a:ext uri="{FF2B5EF4-FFF2-40B4-BE49-F238E27FC236}">
                <a16:creationId xmlns:a16="http://schemas.microsoft.com/office/drawing/2014/main" id="{8399EA91-3B81-6E75-79F6-78C87568CB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0A0CCF-2898-307A-F4F5-783340107458}"/>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7B04A832-65B0-9EA2-879E-12ED7CBCC358}"/>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94C254C6-221A-E15C-7FBE-969D392A736E}"/>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225169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B6FEB-2723-AAE6-E7C7-A57F71C5055D}"/>
              </a:ext>
            </a:extLst>
          </p:cNvPr>
          <p:cNvSpPr>
            <a:spLocks noGrp="1"/>
          </p:cNvSpPr>
          <p:nvPr>
            <p:ph type="title"/>
          </p:nvPr>
        </p:nvSpPr>
        <p:spPr/>
        <p:txBody>
          <a:bodyPr/>
          <a:lstStyle/>
          <a:p>
            <a:r>
              <a:rPr lang="en-US"/>
              <a:t>Click to edit Master title style</a:t>
            </a:r>
            <a:endParaRPr lang="en-GH"/>
          </a:p>
        </p:txBody>
      </p:sp>
      <p:sp>
        <p:nvSpPr>
          <p:cNvPr id="3" name="Content Placeholder 2">
            <a:extLst>
              <a:ext uri="{FF2B5EF4-FFF2-40B4-BE49-F238E27FC236}">
                <a16:creationId xmlns:a16="http://schemas.microsoft.com/office/drawing/2014/main" id="{0474C72E-173D-6A1C-F939-011ACE4E02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a:extLst>
              <a:ext uri="{FF2B5EF4-FFF2-40B4-BE49-F238E27FC236}">
                <a16:creationId xmlns:a16="http://schemas.microsoft.com/office/drawing/2014/main" id="{18638769-FD52-B45E-4CB8-86294E9996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a:extLst>
              <a:ext uri="{FF2B5EF4-FFF2-40B4-BE49-F238E27FC236}">
                <a16:creationId xmlns:a16="http://schemas.microsoft.com/office/drawing/2014/main" id="{1D642481-01D8-61F4-74D6-F737C2D85345}"/>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6" name="Footer Placeholder 5">
            <a:extLst>
              <a:ext uri="{FF2B5EF4-FFF2-40B4-BE49-F238E27FC236}">
                <a16:creationId xmlns:a16="http://schemas.microsoft.com/office/drawing/2014/main" id="{712B6B21-0CB9-7199-25BF-530E78A6BFC1}"/>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E7564F8-834A-C75E-FA54-7FC77DFA887E}"/>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16314641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90880-09DC-F30C-2D0C-EC9C24C39F9A}"/>
              </a:ext>
            </a:extLst>
          </p:cNvPr>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a:extLst>
              <a:ext uri="{FF2B5EF4-FFF2-40B4-BE49-F238E27FC236}">
                <a16:creationId xmlns:a16="http://schemas.microsoft.com/office/drawing/2014/main" id="{F628F8A4-6242-0521-E1C4-ACA12A496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E66E5D-56E5-BCF1-80FB-73968EEAB5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a:extLst>
              <a:ext uri="{FF2B5EF4-FFF2-40B4-BE49-F238E27FC236}">
                <a16:creationId xmlns:a16="http://schemas.microsoft.com/office/drawing/2014/main" id="{CD86D28C-207A-7BF6-E14E-68A91A84A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AE62A6-B169-5190-8763-7D8C024527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a:extLst>
              <a:ext uri="{FF2B5EF4-FFF2-40B4-BE49-F238E27FC236}">
                <a16:creationId xmlns:a16="http://schemas.microsoft.com/office/drawing/2014/main" id="{48872650-CBC8-C120-1E30-89648B116EBC}"/>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8" name="Footer Placeholder 7">
            <a:extLst>
              <a:ext uri="{FF2B5EF4-FFF2-40B4-BE49-F238E27FC236}">
                <a16:creationId xmlns:a16="http://schemas.microsoft.com/office/drawing/2014/main" id="{1E5DD595-E0E1-44F4-0DE6-220CEC2E52C3}"/>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D6A6DB08-220D-9714-D38D-592165163942}"/>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572153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6CC2E-44F2-CD0C-6003-2934E74AC8C4}"/>
              </a:ext>
            </a:extLst>
          </p:cNvPr>
          <p:cNvSpPr>
            <a:spLocks noGrp="1"/>
          </p:cNvSpPr>
          <p:nvPr>
            <p:ph type="title"/>
          </p:nvPr>
        </p:nvSpPr>
        <p:spPr/>
        <p:txBody>
          <a:bodyPr/>
          <a:lstStyle/>
          <a:p>
            <a:r>
              <a:rPr lang="en-US"/>
              <a:t>Click to edit Master title style</a:t>
            </a:r>
            <a:endParaRPr lang="en-GH"/>
          </a:p>
        </p:txBody>
      </p:sp>
      <p:sp>
        <p:nvSpPr>
          <p:cNvPr id="3" name="Date Placeholder 2">
            <a:extLst>
              <a:ext uri="{FF2B5EF4-FFF2-40B4-BE49-F238E27FC236}">
                <a16:creationId xmlns:a16="http://schemas.microsoft.com/office/drawing/2014/main" id="{915FBAEE-E050-0B0B-D423-295276D9E363}"/>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4" name="Footer Placeholder 3">
            <a:extLst>
              <a:ext uri="{FF2B5EF4-FFF2-40B4-BE49-F238E27FC236}">
                <a16:creationId xmlns:a16="http://schemas.microsoft.com/office/drawing/2014/main" id="{44BE56B7-27AB-EBF3-47B5-A273C151BC48}"/>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D02A386C-EB3B-F9EE-3F17-CD025BA27575}"/>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327852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692369-5072-813A-6E6D-245D4FE85A98}"/>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3" name="Footer Placeholder 2">
            <a:extLst>
              <a:ext uri="{FF2B5EF4-FFF2-40B4-BE49-F238E27FC236}">
                <a16:creationId xmlns:a16="http://schemas.microsoft.com/office/drawing/2014/main" id="{CA08153C-79FE-7EEA-D757-2923E1AC39A5}"/>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E5188DEF-63F7-6B4E-A1A4-805B0222E53B}"/>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2582126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BB2C6-0DB3-12D7-22F9-951E7C0A32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a:extLst>
              <a:ext uri="{FF2B5EF4-FFF2-40B4-BE49-F238E27FC236}">
                <a16:creationId xmlns:a16="http://schemas.microsoft.com/office/drawing/2014/main" id="{E2EE8066-DCAA-7506-B4E0-4FAC014E03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a:extLst>
              <a:ext uri="{FF2B5EF4-FFF2-40B4-BE49-F238E27FC236}">
                <a16:creationId xmlns:a16="http://schemas.microsoft.com/office/drawing/2014/main" id="{69E7521C-03DB-59CF-608A-4036F9499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63CEF3-ADBB-5FBE-5FBF-A59403AB45F9}"/>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6" name="Footer Placeholder 5">
            <a:extLst>
              <a:ext uri="{FF2B5EF4-FFF2-40B4-BE49-F238E27FC236}">
                <a16:creationId xmlns:a16="http://schemas.microsoft.com/office/drawing/2014/main" id="{533E5AFA-7F1A-2E99-2DF5-CDD4FB216560}"/>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81485747-5652-462B-3901-7F80FCCB2BD1}"/>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233128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404BD-9656-584E-29BD-6491D71A9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a:extLst>
              <a:ext uri="{FF2B5EF4-FFF2-40B4-BE49-F238E27FC236}">
                <a16:creationId xmlns:a16="http://schemas.microsoft.com/office/drawing/2014/main" id="{80E85B6D-2D4F-2A9D-6501-06B97B34A4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6D02AC15-2789-7AE8-39ED-4B7BFE181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BD98C8-0F22-E9FB-CA59-7EED89CE109F}"/>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6" name="Footer Placeholder 5">
            <a:extLst>
              <a:ext uri="{FF2B5EF4-FFF2-40B4-BE49-F238E27FC236}">
                <a16:creationId xmlns:a16="http://schemas.microsoft.com/office/drawing/2014/main" id="{11B8848C-7AA6-FC7F-90B0-439A7E9C5B2A}"/>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48005CE8-F0ED-5CE9-2996-01A3088703A0}"/>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1744057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9867D-65CC-D7E3-5760-8330CCE2F11D}"/>
              </a:ext>
            </a:extLst>
          </p:cNvPr>
          <p:cNvSpPr>
            <a:spLocks noGrp="1"/>
          </p:cNvSpPr>
          <p:nvPr>
            <p:ph type="title"/>
          </p:nvPr>
        </p:nvSpPr>
        <p:spPr/>
        <p:txBody>
          <a:bodyPr/>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7C4C0B08-1512-0B90-9022-4F6A013C51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B7551D74-7BC6-5C29-2614-705D5743A4B3}"/>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37123F6D-4254-96F0-33F1-0CDFCFB02E10}"/>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C9D9620D-A132-EB4D-4468-12F1421088DC}"/>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718344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E84073-B215-C220-14F9-EFE14E1EDD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a:extLst>
              <a:ext uri="{FF2B5EF4-FFF2-40B4-BE49-F238E27FC236}">
                <a16:creationId xmlns:a16="http://schemas.microsoft.com/office/drawing/2014/main" id="{D9C2A1EC-3E4A-788D-5850-CDB9C64A61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2D9C9E09-85C5-597D-1475-3E461957A40D}"/>
              </a:ext>
            </a:extLst>
          </p:cNvPr>
          <p:cNvSpPr>
            <a:spLocks noGrp="1"/>
          </p:cNvSpPr>
          <p:nvPr>
            <p:ph type="dt" sz="half" idx="10"/>
          </p:nvPr>
        </p:nvSpPr>
        <p:spPr/>
        <p:txBody>
          <a:body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51161FEA-C80D-97E0-867D-FA80D51EAB61}"/>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584C00C3-3889-A8A9-0318-443F5BEF8BA7}"/>
              </a:ext>
            </a:extLst>
          </p:cNvPr>
          <p:cNvSpPr>
            <a:spLocks noGrp="1"/>
          </p:cNvSpPr>
          <p:nvPr>
            <p:ph type="sldNum" sz="quarter" idx="12"/>
          </p:nvPr>
        </p:nvSpPr>
        <p:spPr/>
        <p:txBody>
          <a:bodyPr/>
          <a:lstStyle/>
          <a:p>
            <a:fld id="{4B361C2E-A643-4BDC-AE4D-1298D9EE0E16}" type="slidenum">
              <a:rPr lang="en-GH" smtClean="0"/>
              <a:t>‹#›</a:t>
            </a:fld>
            <a:endParaRPr lang="en-GH"/>
          </a:p>
        </p:txBody>
      </p:sp>
    </p:spTree>
    <p:extLst>
      <p:ext uri="{BB962C8B-B14F-4D97-AF65-F5344CB8AC3E}">
        <p14:creationId xmlns:p14="http://schemas.microsoft.com/office/powerpoint/2010/main" val="149601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05C1CF-7BA0-8F92-1FFE-DBF222333A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a:extLst>
              <a:ext uri="{FF2B5EF4-FFF2-40B4-BE49-F238E27FC236}">
                <a16:creationId xmlns:a16="http://schemas.microsoft.com/office/drawing/2014/main" id="{3C5864CC-F25F-6DA9-F4BD-89C2CB8C55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a:extLst>
              <a:ext uri="{FF2B5EF4-FFF2-40B4-BE49-F238E27FC236}">
                <a16:creationId xmlns:a16="http://schemas.microsoft.com/office/drawing/2014/main" id="{B33D174F-9E08-7B1A-FD23-407D622AB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5E763-DB0A-4D5C-9CE9-782AE07C8725}" type="datetimeFigureOut">
              <a:rPr lang="en-GH" smtClean="0"/>
              <a:t>09/08/2026</a:t>
            </a:fld>
            <a:endParaRPr lang="en-GH"/>
          </a:p>
        </p:txBody>
      </p:sp>
      <p:sp>
        <p:nvSpPr>
          <p:cNvPr id="5" name="Footer Placeholder 4">
            <a:extLst>
              <a:ext uri="{FF2B5EF4-FFF2-40B4-BE49-F238E27FC236}">
                <a16:creationId xmlns:a16="http://schemas.microsoft.com/office/drawing/2014/main" id="{27AC353F-0EBA-9AD8-AE3D-CD1251E292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H"/>
          </a:p>
        </p:txBody>
      </p:sp>
      <p:sp>
        <p:nvSpPr>
          <p:cNvPr id="6" name="Slide Number Placeholder 5">
            <a:extLst>
              <a:ext uri="{FF2B5EF4-FFF2-40B4-BE49-F238E27FC236}">
                <a16:creationId xmlns:a16="http://schemas.microsoft.com/office/drawing/2014/main" id="{A65849A7-4332-ED27-E2FA-35E19A3EFD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361C2E-A643-4BDC-AE4D-1298D9EE0E16}" type="slidenum">
              <a:rPr lang="en-GH" smtClean="0"/>
              <a:t>‹#›</a:t>
            </a:fld>
            <a:endParaRPr lang="en-GH"/>
          </a:p>
        </p:txBody>
      </p:sp>
    </p:spTree>
    <p:extLst>
      <p:ext uri="{BB962C8B-B14F-4D97-AF65-F5344CB8AC3E}">
        <p14:creationId xmlns:p14="http://schemas.microsoft.com/office/powerpoint/2010/main" val="699818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A58D6A-295F-2921-EFF2-5423A6613CB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9452" b="19625"/>
          <a:stretch>
            <a:fillRect/>
          </a:stretch>
        </p:blipFill>
        <p:spPr>
          <a:xfrm>
            <a:off x="0" y="10"/>
            <a:ext cx="9851666" cy="6857990"/>
          </a:xfrm>
          <a:prstGeom prst="rect">
            <a:avLst/>
          </a:prstGeom>
        </p:spPr>
      </p:pic>
      <p:sp>
        <p:nvSpPr>
          <p:cNvPr id="12"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2">
            <a:extLst>
              <a:ext uri="{FF2B5EF4-FFF2-40B4-BE49-F238E27FC236}">
                <a16:creationId xmlns:a16="http://schemas.microsoft.com/office/drawing/2014/main" id="{A9FEC16F-EF88-6C39-7CDF-BDA9DE201F45}"/>
              </a:ext>
            </a:extLst>
          </p:cNvPr>
          <p:cNvSpPr txBox="1">
            <a:spLocks/>
          </p:cNvSpPr>
          <p:nvPr/>
        </p:nvSpPr>
        <p:spPr>
          <a:xfrm>
            <a:off x="8132998" y="2428371"/>
            <a:ext cx="3958157" cy="2165641"/>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5400" b="1" dirty="0">
                <a:solidFill>
                  <a:srgbClr val="660066"/>
                </a:solidFill>
                <a:latin typeface="+mj-lt"/>
                <a:cs typeface="Times New Roman" panose="02020603050405020304" pitchFamily="18" charset="0"/>
              </a:rPr>
              <a:t>Palace Professional Network</a:t>
            </a:r>
          </a:p>
        </p:txBody>
      </p:sp>
      <p:pic>
        <p:nvPicPr>
          <p:cNvPr id="9" name="Picture 8">
            <a:extLst>
              <a:ext uri="{FF2B5EF4-FFF2-40B4-BE49-F238E27FC236}">
                <a16:creationId xmlns:a16="http://schemas.microsoft.com/office/drawing/2014/main" id="{34F75358-6163-1590-1E13-CDAB8A595A53}"/>
              </a:ext>
            </a:extLst>
          </p:cNvPr>
          <p:cNvPicPr>
            <a:picLocks noChangeAspect="1"/>
          </p:cNvPicPr>
          <p:nvPr/>
        </p:nvPicPr>
        <p:blipFill rotWithShape="1">
          <a:blip r:embed="rId4"/>
          <a:srcRect l="7561" t="17350" b="15867"/>
          <a:stretch/>
        </p:blipFill>
        <p:spPr>
          <a:xfrm>
            <a:off x="-138510" y="0"/>
            <a:ext cx="2778801" cy="1048586"/>
          </a:xfrm>
          <a:prstGeom prst="rect">
            <a:avLst/>
          </a:prstGeom>
        </p:spPr>
      </p:pic>
    </p:spTree>
    <p:extLst>
      <p:ext uri="{BB962C8B-B14F-4D97-AF65-F5344CB8AC3E}">
        <p14:creationId xmlns:p14="http://schemas.microsoft.com/office/powerpoint/2010/main" val="595990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E39ABD-809A-623F-F606-288FEBE651F2}"/>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EB6A2F2-DB28-1626-5A93-4D577C8D9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EBE226DE-AC84-26E2-249E-0F19E90D0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6BFA0D2-5FA2-7AAE-BF3D-5DD1E1F7BD29}"/>
              </a:ext>
            </a:extLst>
          </p:cNvPr>
          <p:cNvPicPr>
            <a:picLocks noChangeAspect="1"/>
          </p:cNvPicPr>
          <p:nvPr/>
        </p:nvPicPr>
        <p:blipFill rotWithShape="1">
          <a:blip r:embed="rId3"/>
          <a:srcRect l="7561" t="17350" b="15867"/>
          <a:stretch/>
        </p:blipFill>
        <p:spPr>
          <a:xfrm>
            <a:off x="114291" y="68667"/>
            <a:ext cx="2168756" cy="783410"/>
          </a:xfrm>
          <a:prstGeom prst="rect">
            <a:avLst/>
          </a:prstGeom>
        </p:spPr>
      </p:pic>
      <p:sp>
        <p:nvSpPr>
          <p:cNvPr id="11" name="Title 10">
            <a:extLst>
              <a:ext uri="{FF2B5EF4-FFF2-40B4-BE49-F238E27FC236}">
                <a16:creationId xmlns:a16="http://schemas.microsoft.com/office/drawing/2014/main" id="{7B90079C-236B-1187-C78F-3FC6E7AD9FDF}"/>
              </a:ext>
            </a:extLst>
          </p:cNvPr>
          <p:cNvSpPr>
            <a:spLocks noGrp="1"/>
          </p:cNvSpPr>
          <p:nvPr>
            <p:ph type="title"/>
          </p:nvPr>
        </p:nvSpPr>
        <p:spPr>
          <a:xfrm>
            <a:off x="853877" y="2435703"/>
            <a:ext cx="3108436" cy="1543557"/>
          </a:xfrm>
        </p:spPr>
        <p:txBody>
          <a:bodyPr>
            <a:normAutofit fontScale="90000"/>
          </a:bodyPr>
          <a:lstStyle/>
          <a:p>
            <a:r>
              <a:rPr lang="en-US" b="1" dirty="0">
                <a:cs typeface="Times New Roman" panose="02020603050405020304" pitchFamily="18" charset="0"/>
              </a:rPr>
              <a:t>Palace Professional</a:t>
            </a:r>
            <a:br>
              <a:rPr lang="en-US" b="1" dirty="0">
                <a:cs typeface="Times New Roman" panose="02020603050405020304" pitchFamily="18" charset="0"/>
              </a:rPr>
            </a:br>
            <a:r>
              <a:rPr lang="en-US" b="1" dirty="0">
                <a:cs typeface="Times New Roman" panose="02020603050405020304" pitchFamily="18" charset="0"/>
              </a:rPr>
              <a:t>Network</a:t>
            </a:r>
            <a:endParaRPr lang="en-GH" b="1" dirty="0">
              <a:cs typeface="Times New Roman" panose="02020603050405020304" pitchFamily="18" charset="0"/>
            </a:endParaRPr>
          </a:p>
        </p:txBody>
      </p:sp>
      <p:sp>
        <p:nvSpPr>
          <p:cNvPr id="3" name="TextBox 2">
            <a:extLst>
              <a:ext uri="{FF2B5EF4-FFF2-40B4-BE49-F238E27FC236}">
                <a16:creationId xmlns:a16="http://schemas.microsoft.com/office/drawing/2014/main" id="{DFAF3AF5-52FA-4483-513A-8EF7E909F35E}"/>
              </a:ext>
            </a:extLst>
          </p:cNvPr>
          <p:cNvSpPr txBox="1"/>
          <p:nvPr/>
        </p:nvSpPr>
        <p:spPr>
          <a:xfrm>
            <a:off x="3856403" y="159604"/>
            <a:ext cx="7421106" cy="646331"/>
          </a:xfrm>
          <a:prstGeom prst="rect">
            <a:avLst/>
          </a:prstGeom>
          <a:noFill/>
        </p:spPr>
        <p:txBody>
          <a:bodyPr wrap="square">
            <a:spAutoFit/>
          </a:bodyPr>
          <a:lstStyle/>
          <a:p>
            <a:pPr algn="ctr"/>
            <a:r>
              <a:rPr lang="en-US" sz="3200" b="1" kern="0" dirty="0">
                <a:solidFill>
                  <a:srgbClr val="660066"/>
                </a:solidFill>
                <a:latin typeface="+mj-lt"/>
                <a:cs typeface="Times New Roman" panose="02020603050405020304" pitchFamily="18" charset="0"/>
              </a:rPr>
              <a:t>Presentation</a:t>
            </a:r>
            <a:r>
              <a:rPr lang="en-US" sz="3600" b="1" kern="1800" dirty="0">
                <a:solidFill>
                  <a:schemeClr val="tx2">
                    <a:lumMod val="25000"/>
                  </a:schemeClr>
                </a:solidFill>
                <a:effectLst/>
                <a:latin typeface="+mj-lt"/>
                <a:ea typeface="Times New Roman" panose="02020603050405020304" pitchFamily="18" charset="0"/>
              </a:rPr>
              <a:t> </a:t>
            </a:r>
            <a:r>
              <a:rPr lang="en-US" sz="3200" b="1" kern="0" dirty="0">
                <a:solidFill>
                  <a:srgbClr val="660066"/>
                </a:solidFill>
                <a:latin typeface="+mj-lt"/>
                <a:cs typeface="Times New Roman" panose="02020603050405020304" pitchFamily="18" charset="0"/>
              </a:rPr>
              <a:t>Outline</a:t>
            </a:r>
            <a:endParaRPr lang="en-GH" sz="3200" b="1" kern="0" dirty="0">
              <a:solidFill>
                <a:srgbClr val="660066"/>
              </a:solidFill>
              <a:latin typeface="+mj-lt"/>
              <a:cs typeface="Times New Roman" panose="02020603050405020304" pitchFamily="18" charset="0"/>
            </a:endParaRPr>
          </a:p>
        </p:txBody>
      </p:sp>
      <p:sp>
        <p:nvSpPr>
          <p:cNvPr id="2" name="Rectangle: Rounded Corners 1">
            <a:extLst>
              <a:ext uri="{FF2B5EF4-FFF2-40B4-BE49-F238E27FC236}">
                <a16:creationId xmlns:a16="http://schemas.microsoft.com/office/drawing/2014/main" id="{51324227-BB6A-BA71-42C0-2CAFF85BF48A}"/>
              </a:ext>
            </a:extLst>
          </p:cNvPr>
          <p:cNvSpPr/>
          <p:nvPr/>
        </p:nvSpPr>
        <p:spPr bwMode="gray">
          <a:xfrm>
            <a:off x="4374862" y="1536192"/>
            <a:ext cx="7367089" cy="4197096"/>
          </a:xfrm>
          <a:prstGeom prst="roundRect">
            <a:avLst>
              <a:gd name="adj" fmla="val 11287"/>
            </a:avLst>
          </a:prstGeom>
          <a:solidFill>
            <a:schemeClr val="tx1">
              <a:alpha val="74000"/>
            </a:schemeClr>
          </a:solidFill>
          <a:ln w="38100" algn="ctr">
            <a:solidFill>
              <a:srgbClr val="660066"/>
            </a:solidFill>
            <a:miter lim="800000"/>
            <a:headEnd/>
            <a:tailEnd/>
          </a:ln>
        </p:spPr>
        <p:txBody>
          <a:bodyPr wrap="square" lIns="80648" tIns="80648" rIns="80648" bIns="80648" rtlCol="0" anchor="ctr"/>
          <a:lstStyle/>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kumimoji="0" lang="en-US" sz="2800" b="1" i="0" u="none" strike="noStrike" kern="0" cap="none" spc="0" normalizeH="0" baseline="0" noProof="0" dirty="0">
                <a:ln>
                  <a:noFill/>
                </a:ln>
                <a:solidFill>
                  <a:srgbClr val="660066"/>
                </a:solidFill>
                <a:effectLst/>
                <a:uLnTx/>
                <a:uFillTx/>
                <a:latin typeface="+mj-lt"/>
                <a:cs typeface="Times New Roman" panose="02020603050405020304" pitchFamily="18" charset="0"/>
              </a:rPr>
              <a:t>Purpose</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lang="en-US" sz="2800" b="1" kern="0" dirty="0">
                <a:solidFill>
                  <a:srgbClr val="660066"/>
                </a:solidFill>
                <a:latin typeface="+mj-lt"/>
                <a:cs typeface="Times New Roman" panose="02020603050405020304" pitchFamily="18" charset="0"/>
              </a:rPr>
              <a:t>Objectives</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kumimoji="0" lang="en-US" sz="2800" b="1" i="0" u="none" strike="noStrike" kern="0" cap="none" spc="0" normalizeH="0" baseline="0" noProof="0">
                <a:ln>
                  <a:noFill/>
                </a:ln>
                <a:solidFill>
                  <a:srgbClr val="660066"/>
                </a:solidFill>
                <a:effectLst/>
                <a:uLnTx/>
                <a:uFillTx/>
                <a:latin typeface="+mj-lt"/>
                <a:cs typeface="Times New Roman" panose="02020603050405020304" pitchFamily="18" charset="0"/>
              </a:rPr>
              <a:t>Proposed Professional </a:t>
            </a:r>
            <a:r>
              <a:rPr kumimoji="0" lang="en-US" sz="2800" b="1" i="0" u="none" strike="noStrike" kern="0" cap="none" spc="0" normalizeH="0" baseline="0" noProof="0" dirty="0">
                <a:ln>
                  <a:noFill/>
                </a:ln>
                <a:solidFill>
                  <a:srgbClr val="660066"/>
                </a:solidFill>
                <a:effectLst/>
                <a:uLnTx/>
                <a:uFillTx/>
                <a:latin typeface="+mj-lt"/>
                <a:cs typeface="Times New Roman" panose="02020603050405020304" pitchFamily="18" charset="0"/>
              </a:rPr>
              <a:t>Network Groups</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lang="en-US" sz="2800" b="1" kern="0" dirty="0">
                <a:solidFill>
                  <a:srgbClr val="660066"/>
                </a:solidFill>
                <a:latin typeface="+mj-lt"/>
                <a:cs typeface="Times New Roman" panose="02020603050405020304" pitchFamily="18" charset="0"/>
              </a:rPr>
              <a:t>Leadership Structure</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kumimoji="0" lang="en-US" sz="2800" b="1" i="0" u="none" strike="noStrike" kern="0" cap="none" spc="0" normalizeH="0" baseline="0" noProof="0" dirty="0">
                <a:ln>
                  <a:noFill/>
                </a:ln>
                <a:solidFill>
                  <a:srgbClr val="660066"/>
                </a:solidFill>
                <a:effectLst/>
                <a:uLnTx/>
                <a:uFillTx/>
                <a:latin typeface="+mj-lt"/>
                <a:cs typeface="Times New Roman" panose="02020603050405020304" pitchFamily="18" charset="0"/>
              </a:rPr>
              <a:t>Operational Framework</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lang="en-US" sz="2800" b="1" kern="0" dirty="0">
                <a:solidFill>
                  <a:srgbClr val="660066"/>
                </a:solidFill>
                <a:latin typeface="+mj-lt"/>
                <a:cs typeface="Times New Roman" panose="02020603050405020304" pitchFamily="18" charset="0"/>
              </a:rPr>
              <a:t>Expected Outcomes</a:t>
            </a:r>
          </a:p>
          <a:p>
            <a:pPr marL="514350" marR="0" lvl="0" indent="-514350" defTabSz="829544" eaLnBrk="1" fontAlgn="auto" latinLnBrk="0" hangingPunct="1">
              <a:lnSpc>
                <a:spcPct val="106000"/>
              </a:lnSpc>
              <a:spcBef>
                <a:spcPts val="0"/>
              </a:spcBef>
              <a:spcAft>
                <a:spcPts val="0"/>
              </a:spcAft>
              <a:buClrTx/>
              <a:buSzTx/>
              <a:buFont typeface="+mj-lt"/>
              <a:buAutoNum type="arabicPeriod"/>
              <a:tabLst/>
              <a:defRPr/>
            </a:pPr>
            <a:r>
              <a:rPr kumimoji="0" lang="en-US" sz="2800" b="1" i="0" u="none" strike="noStrike" kern="0" cap="none" spc="0" normalizeH="0" baseline="0" noProof="0" dirty="0">
                <a:ln>
                  <a:noFill/>
                </a:ln>
                <a:solidFill>
                  <a:srgbClr val="660066"/>
                </a:solidFill>
                <a:effectLst/>
                <a:uLnTx/>
                <a:uFillTx/>
                <a:latin typeface="+mj-lt"/>
                <a:cs typeface="Times New Roman" panose="02020603050405020304" pitchFamily="18" charset="0"/>
              </a:rPr>
              <a:t>Proposed Timelines</a:t>
            </a:r>
          </a:p>
          <a:p>
            <a:pPr marL="0" marR="0" lvl="0" indent="0" algn="ctr" defTabSz="829544" eaLnBrk="1" fontAlgn="auto" latinLnBrk="0" hangingPunct="1">
              <a:lnSpc>
                <a:spcPct val="106000"/>
              </a:lnSpc>
              <a:spcBef>
                <a:spcPts val="0"/>
              </a:spcBef>
              <a:spcAft>
                <a:spcPts val="0"/>
              </a:spcAft>
              <a:buClrTx/>
              <a:buSzTx/>
              <a:buFontTx/>
              <a:buNone/>
              <a:tabLst/>
              <a:defRPr/>
            </a:pPr>
            <a:endParaRPr kumimoji="0" lang="en-US" sz="1452" b="1" i="0" u="none" strike="noStrike" kern="0" cap="none" spc="0" normalizeH="0" baseline="0" noProof="0" dirty="0">
              <a:ln>
                <a:noFill/>
              </a:ln>
              <a:solidFill>
                <a:srgbClr val="660066"/>
              </a:solidFill>
              <a:effectLst/>
              <a:uLnTx/>
              <a:uFillTx/>
              <a:latin typeface="+mj-lt"/>
            </a:endParaRPr>
          </a:p>
        </p:txBody>
      </p:sp>
    </p:spTree>
    <p:extLst>
      <p:ext uri="{BB962C8B-B14F-4D97-AF65-F5344CB8AC3E}">
        <p14:creationId xmlns:p14="http://schemas.microsoft.com/office/powerpoint/2010/main" val="291714246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D310C-29B5-A9DC-ED9C-8B8E87525832}"/>
              </a:ext>
            </a:extLst>
          </p:cNvPr>
          <p:cNvSpPr>
            <a:spLocks noGrp="1"/>
          </p:cNvSpPr>
          <p:nvPr>
            <p:ph type="title"/>
          </p:nvPr>
        </p:nvSpPr>
        <p:spPr>
          <a:xfrm>
            <a:off x="765047" y="-200152"/>
            <a:ext cx="10977081" cy="1325563"/>
          </a:xfrm>
        </p:spPr>
        <p:txBody>
          <a:bodyPr/>
          <a:lstStyle/>
          <a:p>
            <a:pPr algn="ctr"/>
            <a:r>
              <a:rPr lang="en-US" b="1" dirty="0">
                <a:solidFill>
                  <a:srgbClr val="660066"/>
                </a:solidFill>
                <a:cs typeface="Times New Roman" panose="02020603050405020304" pitchFamily="18" charset="0"/>
              </a:rPr>
              <a:t>Background to Palace Professional Network</a:t>
            </a:r>
            <a:endParaRPr lang="en-GH" dirty="0">
              <a:solidFill>
                <a:srgbClr val="660066"/>
              </a:solidFill>
              <a:cs typeface="Times New Roman" panose="02020603050405020304" pitchFamily="18" charset="0"/>
            </a:endParaRPr>
          </a:p>
        </p:txBody>
      </p:sp>
      <p:sp>
        <p:nvSpPr>
          <p:cNvPr id="8" name="TextBox 7">
            <a:extLst>
              <a:ext uri="{FF2B5EF4-FFF2-40B4-BE49-F238E27FC236}">
                <a16:creationId xmlns:a16="http://schemas.microsoft.com/office/drawing/2014/main" id="{90AFFC94-66D7-78E2-89BB-3D50D4C809FF}"/>
              </a:ext>
            </a:extLst>
          </p:cNvPr>
          <p:cNvSpPr txBox="1"/>
          <p:nvPr/>
        </p:nvSpPr>
        <p:spPr>
          <a:xfrm>
            <a:off x="642134" y="2167679"/>
            <a:ext cx="4900773" cy="3970318"/>
          </a:xfrm>
          <a:prstGeom prst="rect">
            <a:avLst/>
          </a:prstGeom>
          <a:noFill/>
        </p:spPr>
        <p:txBody>
          <a:bodyPr wrap="square" rtlCol="0">
            <a:spAutoFit/>
          </a:bodyPr>
          <a:lstStyle/>
          <a:p>
            <a:r>
              <a:rPr lang="en-US" sz="2800" b="1" dirty="0">
                <a:solidFill>
                  <a:schemeClr val="bg2">
                    <a:lumMod val="25000"/>
                  </a:schemeClr>
                </a:solidFill>
              </a:rPr>
              <a:t>The Palace Professional Network (PPN) is an initiative of the church leadership aimed at bringing together members with similar professions, skill sets, and trades to foster networking, collaboration, and mutual growth.</a:t>
            </a:r>
            <a:endParaRPr lang="en-GH" sz="2800" b="1" dirty="0">
              <a:solidFill>
                <a:schemeClr val="bg2">
                  <a:lumMod val="25000"/>
                </a:schemeClr>
              </a:solidFill>
            </a:endParaRPr>
          </a:p>
        </p:txBody>
      </p:sp>
      <p:sp>
        <p:nvSpPr>
          <p:cNvPr id="9" name="Rectangle: Rounded Corners 8">
            <a:extLst>
              <a:ext uri="{FF2B5EF4-FFF2-40B4-BE49-F238E27FC236}">
                <a16:creationId xmlns:a16="http://schemas.microsoft.com/office/drawing/2014/main" id="{27AF3680-EBE1-53FE-803F-24ADCF4C28DE}"/>
              </a:ext>
            </a:extLst>
          </p:cNvPr>
          <p:cNvSpPr/>
          <p:nvPr/>
        </p:nvSpPr>
        <p:spPr>
          <a:xfrm>
            <a:off x="287676" y="1428697"/>
            <a:ext cx="5609690" cy="5038885"/>
          </a:xfrm>
          <a:prstGeom prst="roundRect">
            <a:avLst/>
          </a:prstGeom>
          <a:noFill/>
          <a:ln w="38100">
            <a:solidFill>
              <a:srgbClr val="6600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a:p>
        </p:txBody>
      </p:sp>
      <p:grpSp>
        <p:nvGrpSpPr>
          <p:cNvPr id="22" name="Group 21">
            <a:extLst>
              <a:ext uri="{FF2B5EF4-FFF2-40B4-BE49-F238E27FC236}">
                <a16:creationId xmlns:a16="http://schemas.microsoft.com/office/drawing/2014/main" id="{E3579104-090E-0DFC-E688-D105A91D87AD}"/>
              </a:ext>
            </a:extLst>
          </p:cNvPr>
          <p:cNvGrpSpPr/>
          <p:nvPr/>
        </p:nvGrpSpPr>
        <p:grpSpPr>
          <a:xfrm>
            <a:off x="6357956" y="2291209"/>
            <a:ext cx="6316926" cy="3878343"/>
            <a:chOff x="6357956" y="1623392"/>
            <a:chExt cx="6316926" cy="3878343"/>
          </a:xfrm>
        </p:grpSpPr>
        <p:sp>
          <p:nvSpPr>
            <p:cNvPr id="11" name="TextBox 10">
              <a:extLst>
                <a:ext uri="{FF2B5EF4-FFF2-40B4-BE49-F238E27FC236}">
                  <a16:creationId xmlns:a16="http://schemas.microsoft.com/office/drawing/2014/main" id="{B8BC93CB-372E-8788-1F11-2A33803EE954}"/>
                </a:ext>
              </a:extLst>
            </p:cNvPr>
            <p:cNvSpPr txBox="1"/>
            <p:nvPr/>
          </p:nvSpPr>
          <p:spPr>
            <a:xfrm>
              <a:off x="7828904" y="1623392"/>
              <a:ext cx="4845978" cy="1815882"/>
            </a:xfrm>
            <a:prstGeom prst="rect">
              <a:avLst/>
            </a:prstGeom>
            <a:noFill/>
          </p:spPr>
          <p:txBody>
            <a:bodyPr wrap="square">
              <a:spAutoFit/>
            </a:bodyPr>
            <a:lstStyle/>
            <a:p>
              <a:pPr>
                <a:buNone/>
              </a:pPr>
              <a:endParaRPr lang="en-US" sz="1600" dirty="0">
                <a:solidFill>
                  <a:schemeClr val="bg2">
                    <a:lumMod val="25000"/>
                  </a:schemeClr>
                </a:solidFill>
                <a:effectLst/>
                <a:latin typeface="+mj-lt"/>
                <a:ea typeface="Times New Roman" panose="02020603050405020304" pitchFamily="18" charset="0"/>
                <a:cs typeface="Arial" panose="020B0604020202020204" pitchFamily="34" charset="0"/>
              </a:endParaRPr>
            </a:p>
            <a:p>
              <a:pPr lvl="0">
                <a:tabLst>
                  <a:tab pos="457200" algn="l"/>
                </a:tabLst>
              </a:pPr>
              <a:r>
                <a:rPr lang="en-GH" sz="2800" b="1" dirty="0">
                  <a:solidFill>
                    <a:schemeClr val="bg2">
                      <a:lumMod val="25000"/>
                    </a:schemeClr>
                  </a:solidFill>
                  <a:effectLst/>
                  <a:latin typeface="+mj-lt"/>
                  <a:ea typeface="Times New Roman" panose="02020603050405020304" pitchFamily="18" charset="0"/>
                  <a:cs typeface="Arial" panose="020B0604020202020204" pitchFamily="34" charset="0"/>
                </a:rPr>
                <a:t>Facilitate </a:t>
              </a:r>
              <a:r>
                <a:rPr lang="en-US" sz="2800" b="1" dirty="0">
                  <a:solidFill>
                    <a:schemeClr val="bg2">
                      <a:lumMod val="25000"/>
                    </a:schemeClr>
                  </a:solidFill>
                  <a:effectLst/>
                  <a:latin typeface="+mj-lt"/>
                  <a:ea typeface="Times New Roman" panose="02020603050405020304" pitchFamily="18" charset="0"/>
                  <a:cs typeface="Arial" panose="020B0604020202020204" pitchFamily="34" charset="0"/>
                </a:rPr>
                <a:t>Professional </a:t>
              </a:r>
              <a:r>
                <a:rPr lang="en-GH" sz="2800" b="1" dirty="0">
                  <a:solidFill>
                    <a:schemeClr val="bg2">
                      <a:lumMod val="25000"/>
                    </a:schemeClr>
                  </a:solidFill>
                  <a:effectLst/>
                  <a:latin typeface="+mj-lt"/>
                  <a:ea typeface="Times New Roman" panose="02020603050405020304" pitchFamily="18" charset="0"/>
                  <a:cs typeface="Arial" panose="020B0604020202020204" pitchFamily="34" charset="0"/>
                </a:rPr>
                <a:t>Networking</a:t>
              </a:r>
              <a:endParaRPr lang="en-US" sz="2800" b="1" dirty="0">
                <a:solidFill>
                  <a:schemeClr val="bg2">
                    <a:lumMod val="25000"/>
                  </a:schemeClr>
                </a:solidFill>
                <a:effectLst/>
                <a:latin typeface="+mj-lt"/>
                <a:ea typeface="Times New Roman" panose="02020603050405020304" pitchFamily="18" charset="0"/>
                <a:cs typeface="Arial" panose="020B0604020202020204" pitchFamily="34" charset="0"/>
              </a:endParaRPr>
            </a:p>
            <a:p>
              <a:pPr lvl="0">
                <a:tabLst>
                  <a:tab pos="457200" algn="l"/>
                </a:tabLst>
              </a:pPr>
              <a:endParaRPr lang="en-GH" sz="2800" dirty="0">
                <a:solidFill>
                  <a:schemeClr val="bg2">
                    <a:lumMod val="25000"/>
                  </a:schemeClr>
                </a:solidFill>
                <a:effectLst/>
                <a:latin typeface="+mj-lt"/>
                <a:ea typeface="Calibri" panose="020F0502020204030204" pitchFamily="34" charset="0"/>
                <a:cs typeface="Arial" panose="020B0604020202020204" pitchFamily="34" charset="0"/>
              </a:endParaRPr>
            </a:p>
            <a:p>
              <a:pPr>
                <a:buNone/>
              </a:pPr>
              <a:r>
                <a:rPr lang="en-GH" sz="1200" dirty="0">
                  <a:solidFill>
                    <a:schemeClr val="bg2">
                      <a:lumMod val="25000"/>
                    </a:schemeClr>
                  </a:solidFill>
                  <a:effectLst/>
                  <a:latin typeface="+mj-lt"/>
                  <a:ea typeface="Times New Roman" panose="02020603050405020304" pitchFamily="18" charset="0"/>
                  <a:cs typeface="Arial" panose="020B0604020202020204" pitchFamily="34" charset="0"/>
                </a:rPr>
                <a:t> </a:t>
              </a:r>
              <a:endParaRPr lang="en-GH" sz="1100" dirty="0">
                <a:solidFill>
                  <a:schemeClr val="bg2">
                    <a:lumMod val="25000"/>
                  </a:schemeClr>
                </a:solidFill>
                <a:effectLst/>
                <a:latin typeface="+mj-lt"/>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FD3141E5-0C1D-0A82-26AC-639EEEE47C08}"/>
                </a:ext>
              </a:extLst>
            </p:cNvPr>
            <p:cNvSpPr txBox="1"/>
            <p:nvPr/>
          </p:nvSpPr>
          <p:spPr>
            <a:xfrm>
              <a:off x="7828904" y="3685853"/>
              <a:ext cx="4845978" cy="1815882"/>
            </a:xfrm>
            <a:prstGeom prst="rect">
              <a:avLst/>
            </a:prstGeom>
            <a:noFill/>
          </p:spPr>
          <p:txBody>
            <a:bodyPr wrap="square">
              <a:spAutoFit/>
            </a:bodyPr>
            <a:lstStyle/>
            <a:p>
              <a:pPr>
                <a:buNone/>
              </a:pPr>
              <a:endParaRPr lang="en-US" sz="1600" dirty="0">
                <a:solidFill>
                  <a:schemeClr val="bg2">
                    <a:lumMod val="25000"/>
                  </a:schemeClr>
                </a:solidFill>
                <a:effectLst/>
                <a:latin typeface="+mj-lt"/>
                <a:ea typeface="Times New Roman" panose="02020603050405020304" pitchFamily="18" charset="0"/>
                <a:cs typeface="Arial" panose="020B0604020202020204" pitchFamily="34" charset="0"/>
              </a:endParaRPr>
            </a:p>
            <a:p>
              <a:pPr lvl="0">
                <a:tabLst>
                  <a:tab pos="457200" algn="l"/>
                </a:tabLst>
              </a:pPr>
              <a:r>
                <a:rPr lang="en-GH" sz="2800" b="1" dirty="0">
                  <a:solidFill>
                    <a:schemeClr val="bg2">
                      <a:lumMod val="25000"/>
                    </a:schemeClr>
                  </a:solidFill>
                  <a:effectLst/>
                  <a:latin typeface="+mj-lt"/>
                  <a:ea typeface="Times New Roman" panose="02020603050405020304" pitchFamily="18" charset="0"/>
                  <a:cs typeface="Arial" panose="020B0604020202020204" pitchFamily="34" charset="0"/>
                </a:rPr>
                <a:t>Facilitate Professional</a:t>
              </a:r>
              <a:r>
                <a:rPr lang="en-US" sz="2800" b="1" dirty="0">
                  <a:solidFill>
                    <a:schemeClr val="bg2">
                      <a:lumMod val="25000"/>
                    </a:schemeClr>
                  </a:solidFill>
                  <a:effectLst/>
                  <a:latin typeface="+mj-lt"/>
                  <a:ea typeface="Times New Roman" panose="02020603050405020304" pitchFamily="18" charset="0"/>
                  <a:cs typeface="Arial" panose="020B0604020202020204" pitchFamily="34" charset="0"/>
                </a:rPr>
                <a:t> Mentorship</a:t>
              </a:r>
            </a:p>
            <a:p>
              <a:pPr lvl="0">
                <a:tabLst>
                  <a:tab pos="457200" algn="l"/>
                </a:tabLst>
              </a:pPr>
              <a:endParaRPr lang="en-GH" sz="2800" dirty="0">
                <a:solidFill>
                  <a:schemeClr val="bg2">
                    <a:lumMod val="25000"/>
                  </a:schemeClr>
                </a:solidFill>
                <a:effectLst/>
                <a:latin typeface="+mj-lt"/>
                <a:ea typeface="Calibri" panose="020F0502020204030204" pitchFamily="34" charset="0"/>
                <a:cs typeface="Arial" panose="020B0604020202020204" pitchFamily="34" charset="0"/>
              </a:endParaRPr>
            </a:p>
            <a:p>
              <a:pPr>
                <a:buNone/>
              </a:pPr>
              <a:r>
                <a:rPr lang="en-GH" sz="1200" dirty="0">
                  <a:solidFill>
                    <a:schemeClr val="bg2">
                      <a:lumMod val="25000"/>
                    </a:schemeClr>
                  </a:solidFill>
                  <a:effectLst/>
                  <a:latin typeface="+mj-lt"/>
                  <a:ea typeface="Times New Roman" panose="02020603050405020304" pitchFamily="18" charset="0"/>
                  <a:cs typeface="Arial" panose="020B0604020202020204" pitchFamily="34" charset="0"/>
                </a:rPr>
                <a:t> </a:t>
              </a:r>
              <a:endParaRPr lang="en-GH" sz="1100" dirty="0">
                <a:solidFill>
                  <a:schemeClr val="bg2">
                    <a:lumMod val="25000"/>
                  </a:schemeClr>
                </a:solidFill>
                <a:effectLst/>
                <a:latin typeface="+mj-lt"/>
                <a:ea typeface="Calibri" panose="020F0502020204030204" pitchFamily="34" charset="0"/>
                <a:cs typeface="Arial" panose="020B0604020202020204" pitchFamily="34" charset="0"/>
              </a:endParaRPr>
            </a:p>
          </p:txBody>
        </p:sp>
        <p:pic>
          <p:nvPicPr>
            <p:cNvPr id="18" name="Graphic 17" descr="Social network with solid fill">
              <a:extLst>
                <a:ext uri="{FF2B5EF4-FFF2-40B4-BE49-F238E27FC236}">
                  <a16:creationId xmlns:a16="http://schemas.microsoft.com/office/drawing/2014/main" id="{205A1F35-4E47-96F3-4BBE-C0633927D9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57956" y="1850592"/>
              <a:ext cx="1198922" cy="1198922"/>
            </a:xfrm>
            <a:prstGeom prst="rect">
              <a:avLst/>
            </a:prstGeom>
          </p:spPr>
        </p:pic>
        <p:pic>
          <p:nvPicPr>
            <p:cNvPr id="20" name="Graphic 19" descr="Sprouting Seed with solid fill">
              <a:extLst>
                <a:ext uri="{FF2B5EF4-FFF2-40B4-BE49-F238E27FC236}">
                  <a16:creationId xmlns:a16="http://schemas.microsoft.com/office/drawing/2014/main" id="{2ADBAFD1-C0CA-2DF6-B583-872C322303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99561" y="3808487"/>
              <a:ext cx="1057317" cy="1057317"/>
            </a:xfrm>
            <a:prstGeom prst="rect">
              <a:avLst/>
            </a:prstGeom>
          </p:spPr>
        </p:pic>
      </p:grpSp>
      <p:sp>
        <p:nvSpPr>
          <p:cNvPr id="21" name="TextBox 20">
            <a:extLst>
              <a:ext uri="{FF2B5EF4-FFF2-40B4-BE49-F238E27FC236}">
                <a16:creationId xmlns:a16="http://schemas.microsoft.com/office/drawing/2014/main" id="{5558EF60-D151-D959-DD88-2A1AE7ED74D7}"/>
              </a:ext>
            </a:extLst>
          </p:cNvPr>
          <p:cNvSpPr txBox="1"/>
          <p:nvPr/>
        </p:nvSpPr>
        <p:spPr>
          <a:xfrm>
            <a:off x="1096345" y="1536578"/>
            <a:ext cx="3608221" cy="523220"/>
          </a:xfrm>
          <a:prstGeom prst="rect">
            <a:avLst/>
          </a:prstGeom>
          <a:solidFill>
            <a:srgbClr val="660066"/>
          </a:solidFill>
        </p:spPr>
        <p:txBody>
          <a:bodyPr wrap="square" rtlCol="0">
            <a:spAutoFit/>
          </a:bodyPr>
          <a:lstStyle/>
          <a:p>
            <a:pPr algn="ctr"/>
            <a:r>
              <a:rPr lang="en-US" sz="2800" b="1" dirty="0">
                <a:solidFill>
                  <a:schemeClr val="bg1"/>
                </a:solidFill>
              </a:rPr>
              <a:t>Purpose</a:t>
            </a:r>
            <a:endParaRPr lang="en-GH" sz="2800" b="1" dirty="0">
              <a:solidFill>
                <a:schemeClr val="bg1"/>
              </a:solidFill>
            </a:endParaRPr>
          </a:p>
        </p:txBody>
      </p:sp>
      <p:sp>
        <p:nvSpPr>
          <p:cNvPr id="23" name="TextBox 22">
            <a:extLst>
              <a:ext uri="{FF2B5EF4-FFF2-40B4-BE49-F238E27FC236}">
                <a16:creationId xmlns:a16="http://schemas.microsoft.com/office/drawing/2014/main" id="{FA9A31E5-1DEF-A2E6-7508-5829774D8D74}"/>
              </a:ext>
            </a:extLst>
          </p:cNvPr>
          <p:cNvSpPr txBox="1"/>
          <p:nvPr/>
        </p:nvSpPr>
        <p:spPr>
          <a:xfrm>
            <a:off x="6447890" y="1536578"/>
            <a:ext cx="5456434" cy="523220"/>
          </a:xfrm>
          <a:prstGeom prst="rect">
            <a:avLst/>
          </a:prstGeom>
          <a:solidFill>
            <a:srgbClr val="660066"/>
          </a:solidFill>
        </p:spPr>
        <p:txBody>
          <a:bodyPr wrap="square" rtlCol="0">
            <a:spAutoFit/>
          </a:bodyPr>
          <a:lstStyle/>
          <a:p>
            <a:pPr algn="ctr"/>
            <a:r>
              <a:rPr lang="en-US" sz="2800" b="1" dirty="0">
                <a:solidFill>
                  <a:schemeClr val="bg1"/>
                </a:solidFill>
              </a:rPr>
              <a:t>Objectives</a:t>
            </a:r>
            <a:endParaRPr lang="en-GH" sz="2800" b="1" dirty="0">
              <a:solidFill>
                <a:schemeClr val="bg1"/>
              </a:solidFill>
            </a:endParaRPr>
          </a:p>
        </p:txBody>
      </p:sp>
    </p:spTree>
    <p:extLst>
      <p:ext uri="{BB962C8B-B14F-4D97-AF65-F5344CB8AC3E}">
        <p14:creationId xmlns:p14="http://schemas.microsoft.com/office/powerpoint/2010/main" val="665585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225897-F812-E049-5B08-F3ECB234CA0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BD0A3C4-FA71-2796-2413-D3028671A1BB}"/>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10" name="Rectangle: Rounded Corners 9">
            <a:extLst>
              <a:ext uri="{FF2B5EF4-FFF2-40B4-BE49-F238E27FC236}">
                <a16:creationId xmlns:a16="http://schemas.microsoft.com/office/drawing/2014/main" id="{677BFFE4-39BE-3F32-1C9D-53CF50F0E420}"/>
              </a:ext>
            </a:extLst>
          </p:cNvPr>
          <p:cNvSpPr/>
          <p:nvPr/>
        </p:nvSpPr>
        <p:spPr>
          <a:xfrm>
            <a:off x="216009" y="1717479"/>
            <a:ext cx="11871297" cy="4860338"/>
          </a:xfrm>
          <a:prstGeom prst="roundRect">
            <a:avLst/>
          </a:prstGeom>
          <a:ln>
            <a:solidFill>
              <a:schemeClr val="bg1"/>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H">
              <a:solidFill>
                <a:schemeClr val="bg1"/>
              </a:solidFill>
            </a:endParaRPr>
          </a:p>
        </p:txBody>
      </p:sp>
      <p:sp>
        <p:nvSpPr>
          <p:cNvPr id="6" name="Content Placeholder 5">
            <a:extLst>
              <a:ext uri="{FF2B5EF4-FFF2-40B4-BE49-F238E27FC236}">
                <a16:creationId xmlns:a16="http://schemas.microsoft.com/office/drawing/2014/main" id="{50C92367-9692-2633-1C09-7AE22DC2FD23}"/>
              </a:ext>
            </a:extLst>
          </p:cNvPr>
          <p:cNvSpPr>
            <a:spLocks noGrp="1"/>
          </p:cNvSpPr>
          <p:nvPr>
            <p:ph idx="1"/>
          </p:nvPr>
        </p:nvSpPr>
        <p:spPr>
          <a:xfrm>
            <a:off x="663423" y="2196637"/>
            <a:ext cx="11326632" cy="4007458"/>
          </a:xfrm>
        </p:spPr>
        <p:txBody>
          <a:bodyPr>
            <a:normAutofit/>
          </a:bodyPr>
          <a:lstStyle/>
          <a:p>
            <a:pPr marL="0" lvl="0" indent="0" algn="just">
              <a:lnSpc>
                <a:spcPct val="100000"/>
              </a:lnSpc>
              <a:buNone/>
              <a:defRPr/>
            </a:pPr>
            <a:endParaRPr lang="en-US" sz="3600" b="1" dirty="0">
              <a:solidFill>
                <a:prstClr val="white"/>
              </a:solidFill>
              <a:latin typeface="+mj-lt"/>
            </a:endParaRPr>
          </a:p>
          <a:p>
            <a:pPr marL="0" lvl="0" indent="0" algn="just">
              <a:lnSpc>
                <a:spcPct val="100000"/>
              </a:lnSpc>
              <a:buNone/>
              <a:defRPr/>
            </a:pPr>
            <a:r>
              <a:rPr lang="en-US" sz="3200" b="1" dirty="0">
                <a:solidFill>
                  <a:prstClr val="white"/>
                </a:solidFill>
                <a:latin typeface="+mj-lt"/>
                <a:cs typeface="Times New Roman" panose="02020603050405020304" pitchFamily="18" charset="0"/>
              </a:rPr>
              <a:t>24 And God said, Let the earth bring forth the living creature after his kind, cattle, and creeping thing, and beast of the earth after his kind: and it was so. 25 And God made the beast of the </a:t>
            </a:r>
            <a:r>
              <a:rPr lang="en-US" sz="3200" b="1" dirty="0">
                <a:solidFill>
                  <a:srgbClr val="FFCC00"/>
                </a:solidFill>
                <a:latin typeface="+mj-lt"/>
                <a:cs typeface="Times New Roman" panose="02020603050405020304" pitchFamily="18" charset="0"/>
              </a:rPr>
              <a:t>earth after his kind,</a:t>
            </a:r>
            <a:r>
              <a:rPr lang="en-US" sz="3200" b="1" dirty="0">
                <a:solidFill>
                  <a:prstClr val="white"/>
                </a:solidFill>
                <a:latin typeface="+mj-lt"/>
                <a:cs typeface="Times New Roman" panose="02020603050405020304" pitchFamily="18" charset="0"/>
              </a:rPr>
              <a:t> and </a:t>
            </a:r>
            <a:r>
              <a:rPr lang="en-US" sz="3200" b="1" dirty="0">
                <a:solidFill>
                  <a:srgbClr val="FFCC00"/>
                </a:solidFill>
                <a:latin typeface="+mj-lt"/>
                <a:cs typeface="Times New Roman" panose="02020603050405020304" pitchFamily="18" charset="0"/>
              </a:rPr>
              <a:t>cattle after their kind</a:t>
            </a:r>
            <a:r>
              <a:rPr lang="en-US" sz="3200" b="1" dirty="0">
                <a:solidFill>
                  <a:prstClr val="white"/>
                </a:solidFill>
                <a:latin typeface="+mj-lt"/>
                <a:cs typeface="Times New Roman" panose="02020603050405020304" pitchFamily="18" charset="0"/>
              </a:rPr>
              <a:t>, and everything that </a:t>
            </a:r>
            <a:r>
              <a:rPr lang="en-US" sz="3200" b="1" dirty="0" err="1">
                <a:solidFill>
                  <a:srgbClr val="FFCC00"/>
                </a:solidFill>
                <a:latin typeface="+mj-lt"/>
                <a:cs typeface="Times New Roman" panose="02020603050405020304" pitchFamily="18" charset="0"/>
              </a:rPr>
              <a:t>creepeth</a:t>
            </a:r>
            <a:r>
              <a:rPr lang="en-US" sz="3200" b="1" dirty="0">
                <a:solidFill>
                  <a:srgbClr val="FFCC00"/>
                </a:solidFill>
                <a:latin typeface="+mj-lt"/>
                <a:cs typeface="Times New Roman" panose="02020603050405020304" pitchFamily="18" charset="0"/>
              </a:rPr>
              <a:t> upon the earth after his kind</a:t>
            </a:r>
            <a:r>
              <a:rPr lang="en-US" sz="3200" b="1" dirty="0">
                <a:solidFill>
                  <a:prstClr val="white"/>
                </a:solidFill>
                <a:latin typeface="+mj-lt"/>
                <a:cs typeface="Times New Roman" panose="02020603050405020304" pitchFamily="18" charset="0"/>
              </a:rPr>
              <a:t>: and God saw that it was good.</a:t>
            </a:r>
            <a:endParaRPr lang="en-GH" sz="3200" dirty="0">
              <a:solidFill>
                <a:prstClr val="white"/>
              </a:solidFill>
              <a:latin typeface="+mj-lt"/>
              <a:cs typeface="Times New Roman" panose="02020603050405020304" pitchFamily="18" charset="0"/>
            </a:endParaRPr>
          </a:p>
        </p:txBody>
      </p:sp>
      <p:sp>
        <p:nvSpPr>
          <p:cNvPr id="2" name="Title 1">
            <a:extLst>
              <a:ext uri="{FF2B5EF4-FFF2-40B4-BE49-F238E27FC236}">
                <a16:creationId xmlns:a16="http://schemas.microsoft.com/office/drawing/2014/main" id="{54314CBC-BD95-2886-71DA-586C796AD968}"/>
              </a:ext>
            </a:extLst>
          </p:cNvPr>
          <p:cNvSpPr>
            <a:spLocks noGrp="1"/>
          </p:cNvSpPr>
          <p:nvPr>
            <p:ph type="title"/>
          </p:nvPr>
        </p:nvSpPr>
        <p:spPr>
          <a:xfrm>
            <a:off x="216009" y="1822915"/>
            <a:ext cx="6798032" cy="1113181"/>
          </a:xfrm>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Genesis 1:24-25  (KJV)</a:t>
            </a:r>
          </a:p>
        </p:txBody>
      </p:sp>
      <p:sp>
        <p:nvSpPr>
          <p:cNvPr id="4" name="Title 1">
            <a:extLst>
              <a:ext uri="{FF2B5EF4-FFF2-40B4-BE49-F238E27FC236}">
                <a16:creationId xmlns:a16="http://schemas.microsoft.com/office/drawing/2014/main" id="{A3947563-7857-2AC5-AD35-63B2A7C367A9}"/>
              </a:ext>
            </a:extLst>
          </p:cNvPr>
          <p:cNvSpPr txBox="1">
            <a:spLocks/>
          </p:cNvSpPr>
          <p:nvPr/>
        </p:nvSpPr>
        <p:spPr>
          <a:xfrm>
            <a:off x="765047" y="-200152"/>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Scripture Reference</a:t>
            </a:r>
            <a:endParaRPr lang="en-GH" dirty="0">
              <a:solidFill>
                <a:srgbClr val="660066"/>
              </a:solidFill>
              <a:cs typeface="Times New Roman" panose="02020603050405020304" pitchFamily="18" charset="0"/>
            </a:endParaRPr>
          </a:p>
        </p:txBody>
      </p:sp>
    </p:spTree>
    <p:extLst>
      <p:ext uri="{BB962C8B-B14F-4D97-AF65-F5344CB8AC3E}">
        <p14:creationId xmlns:p14="http://schemas.microsoft.com/office/powerpoint/2010/main" val="399414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E1D78-082F-1D8A-DA98-3574E3DB562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5EF6D5B-31F2-C9B2-E1F9-DD0D27EC4182}"/>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2" name="Title 1">
            <a:extLst>
              <a:ext uri="{FF2B5EF4-FFF2-40B4-BE49-F238E27FC236}">
                <a16:creationId xmlns:a16="http://schemas.microsoft.com/office/drawing/2014/main" id="{A9EF4079-343E-E4C6-D737-E0B40B6734D1}"/>
              </a:ext>
            </a:extLst>
          </p:cNvPr>
          <p:cNvSpPr>
            <a:spLocks noGrp="1"/>
          </p:cNvSpPr>
          <p:nvPr>
            <p:ph type="title"/>
          </p:nvPr>
        </p:nvSpPr>
        <p:spPr>
          <a:xfrm>
            <a:off x="216009" y="1822915"/>
            <a:ext cx="6798032" cy="1113181"/>
          </a:xfrm>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Genesis 1:24-25  (KJV)</a:t>
            </a:r>
          </a:p>
        </p:txBody>
      </p:sp>
      <p:sp>
        <p:nvSpPr>
          <p:cNvPr id="3" name="Title 1">
            <a:extLst>
              <a:ext uri="{FF2B5EF4-FFF2-40B4-BE49-F238E27FC236}">
                <a16:creationId xmlns:a16="http://schemas.microsoft.com/office/drawing/2014/main" id="{C27D232B-8910-528E-8493-4666DB72E5F3}"/>
              </a:ext>
            </a:extLst>
          </p:cNvPr>
          <p:cNvSpPr txBox="1">
            <a:spLocks/>
          </p:cNvSpPr>
          <p:nvPr/>
        </p:nvSpPr>
        <p:spPr>
          <a:xfrm>
            <a:off x="838199" y="-154210"/>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Proposed Professional Networks (1/2)</a:t>
            </a:r>
            <a:endParaRPr lang="en-GH" dirty="0">
              <a:solidFill>
                <a:srgbClr val="660066"/>
              </a:solidFill>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76ADE5D8-328A-525A-83FE-4A49B7B423B8}"/>
              </a:ext>
            </a:extLst>
          </p:cNvPr>
          <p:cNvSpPr/>
          <p:nvPr/>
        </p:nvSpPr>
        <p:spPr>
          <a:xfrm>
            <a:off x="400689" y="1355461"/>
            <a:ext cx="4936062" cy="4993967"/>
          </a:xfrm>
          <a:prstGeom prst="roundRect">
            <a:avLst>
              <a:gd name="adj" fmla="val 17102"/>
            </a:avLst>
          </a:prstGeom>
          <a:noFill/>
          <a:ln w="3810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H" dirty="0"/>
          </a:p>
        </p:txBody>
      </p:sp>
      <p:sp>
        <p:nvSpPr>
          <p:cNvPr id="14" name="Content Placeholder 4">
            <a:extLst>
              <a:ext uri="{FF2B5EF4-FFF2-40B4-BE49-F238E27FC236}">
                <a16:creationId xmlns:a16="http://schemas.microsoft.com/office/drawing/2014/main" id="{BC60F144-0057-3C55-ADB6-1EE9E72985C6}"/>
              </a:ext>
            </a:extLst>
          </p:cNvPr>
          <p:cNvSpPr>
            <a:spLocks noGrp="1"/>
          </p:cNvSpPr>
          <p:nvPr>
            <p:ph sz="half" idx="1"/>
          </p:nvPr>
        </p:nvSpPr>
        <p:spPr>
          <a:xfrm>
            <a:off x="598997" y="1609131"/>
            <a:ext cx="4737754" cy="4654706"/>
          </a:xfrm>
        </p:spPr>
        <p:txBody>
          <a:bodyPr>
            <a:normAutofit/>
          </a:bodyPr>
          <a:lstStyle/>
          <a:p>
            <a:pPr marL="514350" indent="-514350">
              <a:lnSpc>
                <a:spcPct val="100000"/>
              </a:lnSpc>
              <a:buSzPct val="40000"/>
              <a:buFont typeface="+mj-lt"/>
              <a:buAutoNum type="arabicPeriod"/>
              <a:tabLst>
                <a:tab pos="457200" algn="l"/>
              </a:tabLst>
            </a:pPr>
            <a:r>
              <a:rPr lang="en-GH" b="1" dirty="0">
                <a:solidFill>
                  <a:schemeClr val="bg2">
                    <a:lumMod val="25000"/>
                  </a:schemeClr>
                </a:solidFill>
                <a:effectLst/>
                <a:latin typeface="+mj-lt"/>
                <a:ea typeface="Times New Roman" panose="02020603050405020304" pitchFamily="18" charset="0"/>
                <a:cs typeface="Arial" panose="020B0604020202020204" pitchFamily="34" charset="0"/>
              </a:rPr>
              <a:t>Healthcare Professionals</a:t>
            </a:r>
          </a:p>
          <a:p>
            <a:pPr marL="514350" indent="-514350">
              <a:lnSpc>
                <a:spcPct val="100000"/>
              </a:lnSpc>
              <a:buSzPct val="40000"/>
              <a:buFont typeface="+mj-lt"/>
              <a:buAutoNum type="arabicPeriod"/>
              <a:tabLst>
                <a:tab pos="457200" algn="l"/>
              </a:tabLst>
            </a:pPr>
            <a:r>
              <a:rPr lang="en-GH" b="1" dirty="0">
                <a:solidFill>
                  <a:schemeClr val="bg2">
                    <a:lumMod val="25000"/>
                  </a:schemeClr>
                </a:solidFill>
                <a:effectLst/>
                <a:latin typeface="+mj-lt"/>
                <a:ea typeface="Times New Roman" panose="02020603050405020304" pitchFamily="18" charset="0"/>
                <a:cs typeface="Arial" panose="020B0604020202020204" pitchFamily="34" charset="0"/>
              </a:rPr>
              <a:t>Teachers and Educators</a:t>
            </a:r>
            <a:endParaRPr lang="en-GH" sz="2400" b="1" dirty="0">
              <a:solidFill>
                <a:schemeClr val="bg2">
                  <a:lumMod val="25000"/>
                </a:schemeClr>
              </a:solidFill>
              <a:effectLst/>
              <a:latin typeface="+mj-lt"/>
              <a:ea typeface="Calibri" panose="020F0502020204030204" pitchFamily="34" charset="0"/>
              <a:cs typeface="Arial" panose="020B0604020202020204" pitchFamily="34" charset="0"/>
            </a:endParaRPr>
          </a:p>
          <a:p>
            <a:pPr marL="514350" indent="-514350">
              <a:lnSpc>
                <a:spcPct val="100000"/>
              </a:lnSpc>
              <a:buSzPct val="40000"/>
              <a:buFont typeface="+mj-lt"/>
              <a:buAutoNum type="arabicPeriod"/>
              <a:tabLst>
                <a:tab pos="457200" algn="l"/>
              </a:tabLst>
            </a:pPr>
            <a:r>
              <a:rPr lang="en-GH" b="1" dirty="0">
                <a:solidFill>
                  <a:schemeClr val="bg2">
                    <a:lumMod val="25000"/>
                  </a:schemeClr>
                </a:solidFill>
                <a:effectLst/>
                <a:latin typeface="+mj-lt"/>
                <a:ea typeface="Times New Roman" panose="02020603050405020304" pitchFamily="18" charset="0"/>
                <a:cs typeface="Arial" panose="020B0604020202020204" pitchFamily="34" charset="0"/>
              </a:rPr>
              <a:t>Lawyers and Legal Professionals </a:t>
            </a:r>
            <a:endParaRPr lang="en-US" b="1" dirty="0">
              <a:solidFill>
                <a:schemeClr val="bg2">
                  <a:lumMod val="25000"/>
                </a:schemeClr>
              </a:solidFill>
              <a:latin typeface="+mj-lt"/>
              <a:ea typeface="Times New Roman" panose="02020603050405020304" pitchFamily="18" charset="0"/>
              <a:cs typeface="Arial" panose="020B0604020202020204" pitchFamily="34" charset="0"/>
            </a:endParaRPr>
          </a:p>
          <a:p>
            <a:pPr marL="514350" indent="-514350">
              <a:lnSpc>
                <a:spcPct val="100000"/>
              </a:lnSpc>
              <a:buSzPct val="40000"/>
              <a:buFont typeface="+mj-lt"/>
              <a:buAutoNum type="arabicPeriod"/>
              <a:tabLst>
                <a:tab pos="457200" algn="l"/>
              </a:tabLst>
            </a:pPr>
            <a:r>
              <a:rPr lang="en-GH" b="1" dirty="0">
                <a:solidFill>
                  <a:schemeClr val="bg2">
                    <a:lumMod val="25000"/>
                  </a:schemeClr>
                </a:solidFill>
                <a:effectLst/>
                <a:latin typeface="+mj-lt"/>
                <a:ea typeface="Times New Roman" panose="02020603050405020304" pitchFamily="18" charset="0"/>
                <a:cs typeface="Arial" panose="020B0604020202020204" pitchFamily="34" charset="0"/>
              </a:rPr>
              <a:t>Engineers and Architects</a:t>
            </a:r>
            <a:endParaRPr lang="en-GH" sz="2400" b="1" dirty="0">
              <a:solidFill>
                <a:schemeClr val="bg2">
                  <a:lumMod val="25000"/>
                </a:schemeClr>
              </a:solidFill>
              <a:effectLst/>
              <a:latin typeface="+mj-lt"/>
              <a:ea typeface="Calibri" panose="020F0502020204030204" pitchFamily="34" charset="0"/>
              <a:cs typeface="Arial" panose="020B0604020202020204" pitchFamily="34" charset="0"/>
            </a:endParaRPr>
          </a:p>
          <a:p>
            <a:pPr marL="514350" indent="-514350">
              <a:lnSpc>
                <a:spcPct val="100000"/>
              </a:lnSpc>
              <a:buSzPct val="40000"/>
              <a:buFont typeface="+mj-lt"/>
              <a:buAutoNum type="arabicPeriod"/>
              <a:tabLst>
                <a:tab pos="457200" algn="l"/>
              </a:tabLst>
            </a:pPr>
            <a:r>
              <a:rPr lang="en-GH" b="1" dirty="0">
                <a:solidFill>
                  <a:schemeClr val="bg2">
                    <a:lumMod val="25000"/>
                  </a:schemeClr>
                </a:solidFill>
                <a:effectLst/>
                <a:latin typeface="+mj-lt"/>
                <a:ea typeface="Times New Roman" panose="02020603050405020304" pitchFamily="18" charset="0"/>
                <a:cs typeface="Arial" panose="020B0604020202020204" pitchFamily="34" charset="0"/>
              </a:rPr>
              <a:t>Administrative Professionals</a:t>
            </a:r>
            <a:endParaRPr lang="en-US" b="1" dirty="0">
              <a:solidFill>
                <a:schemeClr val="bg2">
                  <a:lumMod val="25000"/>
                </a:schemeClr>
              </a:solidFill>
              <a:effectLst/>
              <a:latin typeface="+mj-lt"/>
              <a:ea typeface="Times New Roman" panose="02020603050405020304" pitchFamily="18" charset="0"/>
              <a:cs typeface="Arial" panose="020B0604020202020204" pitchFamily="34" charset="0"/>
            </a:endParaRPr>
          </a:p>
          <a:p>
            <a:pPr marL="514350" indent="-514350">
              <a:lnSpc>
                <a:spcPct val="100000"/>
              </a:lnSpc>
              <a:buSzPct val="40000"/>
              <a:buFont typeface="+mj-lt"/>
              <a:buAutoNum type="arabicPeriod"/>
              <a:tabLst>
                <a:tab pos="457200" algn="l"/>
              </a:tabLst>
            </a:pPr>
            <a:r>
              <a:rPr lang="en-GH" b="1" dirty="0">
                <a:solidFill>
                  <a:schemeClr val="bg2">
                    <a:lumMod val="25000"/>
                  </a:schemeClr>
                </a:solidFill>
                <a:ea typeface="Times New Roman" panose="02020603050405020304" pitchFamily="18" charset="0"/>
                <a:cs typeface="Arial" panose="020B0604020202020204" pitchFamily="34" charset="0"/>
              </a:rPr>
              <a:t>Accountants and Financial Professionals</a:t>
            </a:r>
            <a:endParaRPr lang="en-GH" b="1" dirty="0">
              <a:solidFill>
                <a:schemeClr val="bg2">
                  <a:lumMod val="25000"/>
                </a:schemeClr>
              </a:solidFill>
            </a:endParaRPr>
          </a:p>
          <a:p>
            <a:pPr marL="514350" indent="-514350">
              <a:lnSpc>
                <a:spcPct val="100000"/>
              </a:lnSpc>
              <a:buSzPct val="40000"/>
              <a:buFont typeface="+mj-lt"/>
              <a:buAutoNum type="arabicPeriod"/>
              <a:tabLst>
                <a:tab pos="457200" algn="l"/>
              </a:tabLst>
            </a:pPr>
            <a:endParaRPr lang="en-US" b="1" dirty="0">
              <a:solidFill>
                <a:schemeClr val="bg2">
                  <a:lumMod val="25000"/>
                </a:schemeClr>
              </a:solidFill>
              <a:effectLst/>
              <a:latin typeface="+mj-lt"/>
              <a:ea typeface="Times New Roman" panose="02020603050405020304" pitchFamily="18"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6FA4536D-6818-B65C-AA46-4712F0DE15C8}"/>
              </a:ext>
            </a:extLst>
          </p:cNvPr>
          <p:cNvSpPr/>
          <p:nvPr/>
        </p:nvSpPr>
        <p:spPr>
          <a:xfrm>
            <a:off x="6855248" y="1355461"/>
            <a:ext cx="4960032" cy="4993967"/>
          </a:xfrm>
          <a:prstGeom prst="roundRect">
            <a:avLst>
              <a:gd name="adj" fmla="val 17102"/>
            </a:avLst>
          </a:prstGeom>
          <a:noFill/>
          <a:ln w="38100"/>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342900" indent="-342900" algn="ctr">
              <a:buFont typeface="+mj-lt"/>
              <a:buAutoNum type="arabicPeriod" startAt="7"/>
            </a:pPr>
            <a:endParaRPr lang="en-GH" dirty="0"/>
          </a:p>
        </p:txBody>
      </p:sp>
      <p:sp>
        <p:nvSpPr>
          <p:cNvPr id="16" name="Content Placeholder 6">
            <a:extLst>
              <a:ext uri="{FF2B5EF4-FFF2-40B4-BE49-F238E27FC236}">
                <a16:creationId xmlns:a16="http://schemas.microsoft.com/office/drawing/2014/main" id="{D5412F8C-465B-4FEB-D80C-8C0143448FF8}"/>
              </a:ext>
            </a:extLst>
          </p:cNvPr>
          <p:cNvSpPr txBox="1">
            <a:spLocks/>
          </p:cNvSpPr>
          <p:nvPr/>
        </p:nvSpPr>
        <p:spPr>
          <a:xfrm>
            <a:off x="7014041" y="1615650"/>
            <a:ext cx="4578962" cy="4654705"/>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SzPts val="1000"/>
              <a:buFont typeface="+mj-lt"/>
              <a:buAutoNum type="arabicParenR" startAt="7"/>
              <a:tabLst>
                <a:tab pos="457200" algn="l"/>
              </a:tabLst>
            </a:pPr>
            <a:r>
              <a:rPr lang="en-GH" b="1" dirty="0">
                <a:solidFill>
                  <a:schemeClr val="bg2">
                    <a:lumMod val="25000"/>
                  </a:schemeClr>
                </a:solidFill>
                <a:latin typeface="+mj-lt"/>
                <a:cs typeface="Arial" panose="020B0604020202020204" pitchFamily="34" charset="0"/>
              </a:rPr>
              <a:t>ICT and Technology Professionals</a:t>
            </a:r>
          </a:p>
          <a:p>
            <a:pPr marL="457200" indent="-457200">
              <a:buSzPts val="1000"/>
              <a:buFont typeface="+mj-lt"/>
              <a:buAutoNum type="arabicParenR" startAt="7"/>
              <a:tabLst>
                <a:tab pos="457200" algn="l"/>
              </a:tabLst>
            </a:pPr>
            <a:r>
              <a:rPr lang="en-GH" b="1" dirty="0">
                <a:solidFill>
                  <a:schemeClr val="bg2">
                    <a:lumMod val="25000"/>
                  </a:schemeClr>
                </a:solidFill>
                <a:latin typeface="+mj-lt"/>
                <a:cs typeface="Arial" panose="020B0604020202020204" pitchFamily="34" charset="0"/>
              </a:rPr>
              <a:t>Media and Communication Professionals</a:t>
            </a:r>
          </a:p>
          <a:p>
            <a:pPr marL="457200" indent="-457200">
              <a:buSzPts val="1000"/>
              <a:buFont typeface="+mj-lt"/>
              <a:buAutoNum type="arabicParenR" startAt="7"/>
              <a:tabLst>
                <a:tab pos="457200" algn="l"/>
              </a:tabLst>
            </a:pPr>
            <a:r>
              <a:rPr lang="en-GH" b="1" dirty="0">
                <a:solidFill>
                  <a:schemeClr val="bg2">
                    <a:lumMod val="25000"/>
                  </a:schemeClr>
                </a:solidFill>
                <a:latin typeface="+mj-lt"/>
                <a:cs typeface="Arial" panose="020B0604020202020204" pitchFamily="34" charset="0"/>
              </a:rPr>
              <a:t>Non-Governmental Organisation Professionals </a:t>
            </a:r>
            <a:endParaRPr lang="en-US" b="1" dirty="0">
              <a:solidFill>
                <a:schemeClr val="bg2">
                  <a:lumMod val="25000"/>
                </a:schemeClr>
              </a:solidFill>
              <a:latin typeface="+mj-lt"/>
              <a:cs typeface="Arial" panose="020B0604020202020204" pitchFamily="34" charset="0"/>
            </a:endParaRPr>
          </a:p>
          <a:p>
            <a:pPr marL="457200" indent="-457200">
              <a:buSzPts val="1000"/>
              <a:buFont typeface="+mj-lt"/>
              <a:buAutoNum type="arabicParenR" startAt="7"/>
              <a:tabLst>
                <a:tab pos="457200" algn="l"/>
              </a:tabLst>
            </a:pPr>
            <a:r>
              <a:rPr lang="en-GH" b="1" dirty="0">
                <a:solidFill>
                  <a:schemeClr val="bg2">
                    <a:lumMod val="25000"/>
                  </a:schemeClr>
                </a:solidFill>
                <a:latin typeface="+mj-lt"/>
                <a:cs typeface="Arial" panose="020B0604020202020204" pitchFamily="34" charset="0"/>
              </a:rPr>
              <a:t>Service Professionals</a:t>
            </a:r>
            <a:endParaRPr lang="en-US" b="1" dirty="0">
              <a:solidFill>
                <a:schemeClr val="bg2">
                  <a:lumMod val="25000"/>
                </a:schemeClr>
              </a:solidFill>
              <a:latin typeface="+mj-lt"/>
              <a:cs typeface="Arial" panose="020B0604020202020204" pitchFamily="34" charset="0"/>
            </a:endParaRPr>
          </a:p>
          <a:p>
            <a:pPr marL="457200" indent="-457200">
              <a:buSzPts val="1000"/>
              <a:buFont typeface="+mj-lt"/>
              <a:buAutoNum type="arabicParenR" startAt="7"/>
              <a:tabLst>
                <a:tab pos="457200" algn="l"/>
              </a:tabLst>
            </a:pPr>
            <a:r>
              <a:rPr lang="en-US" b="1">
                <a:solidFill>
                  <a:schemeClr val="bg2">
                    <a:lumMod val="25000"/>
                  </a:schemeClr>
                </a:solidFill>
                <a:latin typeface="+mj-lt"/>
                <a:cs typeface="Arial" panose="020B0604020202020204" pitchFamily="34" charset="0"/>
              </a:rPr>
              <a:t>Hospitality Professionals</a:t>
            </a:r>
            <a:endParaRPr lang="en-US" b="1" dirty="0">
              <a:solidFill>
                <a:schemeClr val="bg2">
                  <a:lumMod val="25000"/>
                </a:schemeClr>
              </a:solidFill>
              <a:latin typeface="+mj-lt"/>
              <a:cs typeface="Arial" panose="020B0604020202020204" pitchFamily="34" charset="0"/>
            </a:endParaRPr>
          </a:p>
          <a:p>
            <a:pPr marL="457200" indent="-457200">
              <a:buSzPts val="1000"/>
              <a:buFont typeface="+mj-lt"/>
              <a:buAutoNum type="arabicParenR" startAt="7"/>
              <a:tabLst>
                <a:tab pos="457200" algn="l"/>
              </a:tabLst>
            </a:pPr>
            <a:r>
              <a:rPr lang="en-US" b="1" dirty="0">
                <a:solidFill>
                  <a:schemeClr val="accent2">
                    <a:lumMod val="75000"/>
                  </a:schemeClr>
                </a:solidFill>
                <a:latin typeface="+mj-lt"/>
                <a:cs typeface="Arial" panose="020B0604020202020204" pitchFamily="34" charset="0"/>
              </a:rPr>
              <a:t>* Businessmen/ Women (</a:t>
            </a:r>
            <a:r>
              <a:rPr lang="en-GH" b="1" dirty="0">
                <a:solidFill>
                  <a:schemeClr val="accent2">
                    <a:lumMod val="75000"/>
                  </a:schemeClr>
                </a:solidFill>
                <a:latin typeface="+mj-lt"/>
                <a:cs typeface="Arial" panose="020B0604020202020204" pitchFamily="34" charset="0"/>
              </a:rPr>
              <a:t>Artisans</a:t>
            </a:r>
            <a:r>
              <a:rPr lang="en-US" b="1" dirty="0">
                <a:solidFill>
                  <a:schemeClr val="accent2">
                    <a:lumMod val="75000"/>
                  </a:schemeClr>
                </a:solidFill>
                <a:latin typeface="+mj-lt"/>
                <a:cs typeface="Arial" panose="020B0604020202020204" pitchFamily="34" charset="0"/>
              </a:rPr>
              <a:t> &amp; Vendors)</a:t>
            </a:r>
            <a:r>
              <a:rPr lang="en-GH" b="1" dirty="0">
                <a:solidFill>
                  <a:schemeClr val="accent2">
                    <a:lumMod val="75000"/>
                  </a:schemeClr>
                </a:solidFill>
                <a:latin typeface="+mj-lt"/>
                <a:cs typeface="Arial" panose="020B0604020202020204" pitchFamily="34" charset="0"/>
              </a:rPr>
              <a:t> </a:t>
            </a:r>
            <a:endParaRPr lang="en-US" b="1" dirty="0">
              <a:solidFill>
                <a:schemeClr val="accent2">
                  <a:lumMod val="75000"/>
                </a:schemeClr>
              </a:solidFill>
              <a:latin typeface="+mj-lt"/>
              <a:cs typeface="Arial" panose="020B0604020202020204" pitchFamily="34" charset="0"/>
            </a:endParaRPr>
          </a:p>
          <a:p>
            <a:pPr marL="457200" indent="-457200">
              <a:buSzPts val="1000"/>
              <a:buFont typeface="+mj-lt"/>
              <a:buAutoNum type="arabicParenR" startAt="7"/>
              <a:tabLst>
                <a:tab pos="457200" algn="l"/>
              </a:tabLst>
            </a:pPr>
            <a:endParaRPr lang="en-US" sz="2000" b="1" dirty="0">
              <a:solidFill>
                <a:schemeClr val="bg2">
                  <a:lumMod val="25000"/>
                </a:schemeClr>
              </a:solidFill>
              <a:latin typeface="Times New Roman" panose="02020603050405020304" pitchFamily="18" charset="0"/>
              <a:ea typeface="Times New Roman" panose="02020603050405020304" pitchFamily="18" charset="0"/>
              <a:cs typeface="Arial" panose="020B0604020202020204" pitchFamily="34" charset="0"/>
            </a:endParaRPr>
          </a:p>
          <a:p>
            <a:pPr marL="457200" indent="-457200">
              <a:buSzPts val="1000"/>
              <a:buFont typeface="+mj-lt"/>
              <a:buAutoNum type="arabicParenR" startAt="7"/>
              <a:tabLst>
                <a:tab pos="457200" algn="l"/>
              </a:tabLst>
            </a:pPr>
            <a:endParaRPr lang="en-GH" sz="1800" b="1" dirty="0">
              <a:solidFill>
                <a:schemeClr val="bg2">
                  <a:lumMod val="25000"/>
                </a:schemeClr>
              </a:solidFill>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3D2F1C47-636F-7BA8-F448-6245C407B11B}"/>
              </a:ext>
            </a:extLst>
          </p:cNvPr>
          <p:cNvSpPr txBox="1"/>
          <p:nvPr/>
        </p:nvSpPr>
        <p:spPr>
          <a:xfrm>
            <a:off x="1243173" y="6482993"/>
            <a:ext cx="9421402" cy="369332"/>
          </a:xfrm>
          <a:prstGeom prst="rect">
            <a:avLst/>
          </a:prstGeom>
          <a:noFill/>
        </p:spPr>
        <p:txBody>
          <a:bodyPr wrap="square" rtlCol="0">
            <a:spAutoFit/>
          </a:bodyPr>
          <a:lstStyle/>
          <a:p>
            <a:r>
              <a:rPr lang="en-US" b="1" dirty="0">
                <a:solidFill>
                  <a:schemeClr val="accent2">
                    <a:lumMod val="75000"/>
                  </a:schemeClr>
                </a:solidFill>
              </a:rPr>
              <a:t>*  Two subgroups within one Professional Group</a:t>
            </a:r>
            <a:endParaRPr lang="en-GH" b="1" dirty="0">
              <a:solidFill>
                <a:schemeClr val="accent2">
                  <a:lumMod val="75000"/>
                </a:schemeClr>
              </a:solidFill>
            </a:endParaRPr>
          </a:p>
        </p:txBody>
      </p:sp>
    </p:spTree>
    <p:extLst>
      <p:ext uri="{BB962C8B-B14F-4D97-AF65-F5344CB8AC3E}">
        <p14:creationId xmlns:p14="http://schemas.microsoft.com/office/powerpoint/2010/main" val="72960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CB3A96-0677-29D1-0DAC-4F1299EABC5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BF8EB3A-3358-4198-9BBE-F856DC052D9A}"/>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2" name="Title 1">
            <a:extLst>
              <a:ext uri="{FF2B5EF4-FFF2-40B4-BE49-F238E27FC236}">
                <a16:creationId xmlns:a16="http://schemas.microsoft.com/office/drawing/2014/main" id="{A755CB1A-65AB-637C-E038-E1A8D6E207BF}"/>
              </a:ext>
            </a:extLst>
          </p:cNvPr>
          <p:cNvSpPr>
            <a:spLocks noGrp="1"/>
          </p:cNvSpPr>
          <p:nvPr>
            <p:ph type="title"/>
          </p:nvPr>
        </p:nvSpPr>
        <p:spPr>
          <a:xfrm>
            <a:off x="216009" y="1822915"/>
            <a:ext cx="6798032" cy="1113181"/>
          </a:xfrm>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Genesis 1:24-25  (KJV)</a:t>
            </a:r>
          </a:p>
        </p:txBody>
      </p:sp>
      <p:sp>
        <p:nvSpPr>
          <p:cNvPr id="3" name="Title 1">
            <a:extLst>
              <a:ext uri="{FF2B5EF4-FFF2-40B4-BE49-F238E27FC236}">
                <a16:creationId xmlns:a16="http://schemas.microsoft.com/office/drawing/2014/main" id="{F07B7A40-7102-AE8E-1F13-4C8C03159811}"/>
              </a:ext>
            </a:extLst>
          </p:cNvPr>
          <p:cNvSpPr txBox="1">
            <a:spLocks/>
          </p:cNvSpPr>
          <p:nvPr/>
        </p:nvSpPr>
        <p:spPr>
          <a:xfrm>
            <a:off x="847343" y="-120034"/>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Proposed Professional Networks (2/2)</a:t>
            </a:r>
            <a:endParaRPr lang="en-GH" dirty="0">
              <a:solidFill>
                <a:srgbClr val="660066"/>
              </a:solidFill>
              <a:cs typeface="Times New Roman" panose="02020603050405020304" pitchFamily="18" charset="0"/>
            </a:endParaRPr>
          </a:p>
        </p:txBody>
      </p:sp>
      <p:sp>
        <p:nvSpPr>
          <p:cNvPr id="16" name="Content Placeholder 6">
            <a:extLst>
              <a:ext uri="{FF2B5EF4-FFF2-40B4-BE49-F238E27FC236}">
                <a16:creationId xmlns:a16="http://schemas.microsoft.com/office/drawing/2014/main" id="{64051362-C66E-BA37-7A9E-93426A086D95}"/>
              </a:ext>
            </a:extLst>
          </p:cNvPr>
          <p:cNvSpPr txBox="1">
            <a:spLocks/>
          </p:cNvSpPr>
          <p:nvPr/>
        </p:nvSpPr>
        <p:spPr>
          <a:xfrm>
            <a:off x="89258" y="3250652"/>
            <a:ext cx="2879972" cy="96043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SzPts val="1000"/>
              <a:buNone/>
              <a:tabLst>
                <a:tab pos="457200" algn="l"/>
              </a:tabLst>
            </a:pPr>
            <a:r>
              <a:rPr lang="en-US" sz="2000" b="1" dirty="0">
                <a:solidFill>
                  <a:srgbClr val="C00000"/>
                </a:solidFill>
                <a:latin typeface="+mj-lt"/>
                <a:cs typeface="Arial" panose="020B0604020202020204" pitchFamily="34" charset="0"/>
              </a:rPr>
              <a:t>* Businessmen/ Women </a:t>
            </a:r>
          </a:p>
          <a:p>
            <a:pPr marL="0" indent="0">
              <a:buSzPts val="1000"/>
              <a:buNone/>
              <a:tabLst>
                <a:tab pos="457200" algn="l"/>
              </a:tabLst>
            </a:pPr>
            <a:r>
              <a:rPr lang="en-US" sz="2000" b="1" dirty="0">
                <a:solidFill>
                  <a:srgbClr val="C00000"/>
                </a:solidFill>
                <a:latin typeface="+mj-lt"/>
                <a:cs typeface="Arial" panose="020B0604020202020204" pitchFamily="34" charset="0"/>
              </a:rPr>
              <a:t>(</a:t>
            </a:r>
            <a:r>
              <a:rPr lang="en-GH" sz="2000" b="1" dirty="0">
                <a:solidFill>
                  <a:srgbClr val="C00000"/>
                </a:solidFill>
                <a:latin typeface="+mj-lt"/>
                <a:cs typeface="Arial" panose="020B0604020202020204" pitchFamily="34" charset="0"/>
              </a:rPr>
              <a:t>Artisans</a:t>
            </a:r>
            <a:r>
              <a:rPr lang="en-US" sz="2000" b="1" dirty="0">
                <a:solidFill>
                  <a:srgbClr val="C00000"/>
                </a:solidFill>
                <a:latin typeface="+mj-lt"/>
                <a:cs typeface="Arial" panose="020B0604020202020204" pitchFamily="34" charset="0"/>
              </a:rPr>
              <a:t> &amp; Vendors)</a:t>
            </a:r>
            <a:r>
              <a:rPr lang="en-GH" sz="2000" b="1" dirty="0">
                <a:solidFill>
                  <a:srgbClr val="C00000"/>
                </a:solidFill>
                <a:latin typeface="+mj-lt"/>
                <a:cs typeface="Arial" panose="020B0604020202020204" pitchFamily="34" charset="0"/>
              </a:rPr>
              <a:t> </a:t>
            </a:r>
            <a:endParaRPr lang="en-US" sz="2000" b="1" dirty="0">
              <a:solidFill>
                <a:srgbClr val="C00000"/>
              </a:solidFill>
              <a:latin typeface="+mj-lt"/>
              <a:cs typeface="Arial" panose="020B0604020202020204" pitchFamily="34" charset="0"/>
            </a:endParaRPr>
          </a:p>
          <a:p>
            <a:pPr marL="457200" indent="-457200">
              <a:buSzPts val="1000"/>
              <a:buFont typeface="+mj-lt"/>
              <a:buAutoNum type="arabicParenR" startAt="7"/>
              <a:tabLst>
                <a:tab pos="457200" algn="l"/>
              </a:tabLst>
            </a:pPr>
            <a:endParaRPr lang="en-US" sz="1600" b="1" dirty="0">
              <a:solidFill>
                <a:srgbClr val="C00000"/>
              </a:solidFill>
              <a:latin typeface="Times New Roman" panose="02020603050405020304" pitchFamily="18" charset="0"/>
              <a:ea typeface="Times New Roman" panose="02020603050405020304" pitchFamily="18" charset="0"/>
              <a:cs typeface="Arial" panose="020B0604020202020204" pitchFamily="34" charset="0"/>
            </a:endParaRPr>
          </a:p>
          <a:p>
            <a:pPr marL="457200" indent="-457200">
              <a:buSzPts val="1000"/>
              <a:buFont typeface="+mj-lt"/>
              <a:buAutoNum type="arabicParenR" startAt="7"/>
              <a:tabLst>
                <a:tab pos="457200" algn="l"/>
              </a:tabLst>
            </a:pPr>
            <a:endParaRPr lang="en-GH" sz="1400" b="1" dirty="0">
              <a:solidFill>
                <a:srgbClr val="C00000"/>
              </a:solidFill>
              <a:latin typeface="Arial" panose="020B0604020202020204" pitchFamily="34" charset="0"/>
              <a:ea typeface="Calibri" panose="020F0502020204030204" pitchFamily="34" charset="0"/>
              <a:cs typeface="Arial" panose="020B0604020202020204" pitchFamily="34" charset="0"/>
            </a:endParaRPr>
          </a:p>
        </p:txBody>
      </p:sp>
      <p:sp>
        <p:nvSpPr>
          <p:cNvPr id="7" name="Left Brace 6">
            <a:extLst>
              <a:ext uri="{FF2B5EF4-FFF2-40B4-BE49-F238E27FC236}">
                <a16:creationId xmlns:a16="http://schemas.microsoft.com/office/drawing/2014/main" id="{71581585-85F9-C2BC-416D-BA62D858B8A4}"/>
              </a:ext>
            </a:extLst>
          </p:cNvPr>
          <p:cNvSpPr/>
          <p:nvPr/>
        </p:nvSpPr>
        <p:spPr>
          <a:xfrm>
            <a:off x="2734056" y="1205530"/>
            <a:ext cx="610089" cy="5180068"/>
          </a:xfrm>
          <a:prstGeom prst="leftBrace">
            <a:avLst>
              <a:gd name="adj1" fmla="val 31476"/>
              <a:gd name="adj2" fmla="val 50000"/>
            </a:avLst>
          </a:prstGeom>
          <a:ln w="38100">
            <a:solidFill>
              <a:srgbClr val="FF99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H"/>
          </a:p>
        </p:txBody>
      </p:sp>
      <p:sp>
        <p:nvSpPr>
          <p:cNvPr id="9" name="Rectangle: Rounded Corners 8">
            <a:extLst>
              <a:ext uri="{FF2B5EF4-FFF2-40B4-BE49-F238E27FC236}">
                <a16:creationId xmlns:a16="http://schemas.microsoft.com/office/drawing/2014/main" id="{DECDBC82-9C2A-E6F8-3023-AF73276030F8}"/>
              </a:ext>
            </a:extLst>
          </p:cNvPr>
          <p:cNvSpPr/>
          <p:nvPr/>
        </p:nvSpPr>
        <p:spPr>
          <a:xfrm>
            <a:off x="3683286" y="1211624"/>
            <a:ext cx="3769923" cy="5162047"/>
          </a:xfrm>
          <a:prstGeom prst="roundRect">
            <a:avLst>
              <a:gd name="adj" fmla="val 17102"/>
            </a:avLst>
          </a:prstGeom>
          <a:noFill/>
          <a:ln w="38100">
            <a:solidFill>
              <a:srgbClr val="66006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H" dirty="0">
              <a:latin typeface="+mj-lt"/>
            </a:endParaRPr>
          </a:p>
        </p:txBody>
      </p:sp>
      <p:sp>
        <p:nvSpPr>
          <p:cNvPr id="10" name="Content Placeholder 4">
            <a:extLst>
              <a:ext uri="{FF2B5EF4-FFF2-40B4-BE49-F238E27FC236}">
                <a16:creationId xmlns:a16="http://schemas.microsoft.com/office/drawing/2014/main" id="{3F95C62F-2C93-1F6F-8496-1F725BDC58B5}"/>
              </a:ext>
            </a:extLst>
          </p:cNvPr>
          <p:cNvSpPr>
            <a:spLocks noGrp="1"/>
          </p:cNvSpPr>
          <p:nvPr>
            <p:ph sz="half" idx="1"/>
          </p:nvPr>
        </p:nvSpPr>
        <p:spPr>
          <a:xfrm>
            <a:off x="3692107" y="1348698"/>
            <a:ext cx="3421958" cy="5001612"/>
          </a:xfrm>
        </p:spPr>
        <p:txBody>
          <a:bodyPr>
            <a:normAutofit fontScale="70000" lnSpcReduction="20000"/>
          </a:bodyPr>
          <a:lstStyle/>
          <a:p>
            <a:pPr marL="457200" lvl="1" indent="0">
              <a:buSzPts val="1000"/>
              <a:buNone/>
              <a:tabLst>
                <a:tab pos="914400" algn="l"/>
              </a:tabLst>
            </a:pPr>
            <a:r>
              <a:rPr lang="en-US" sz="2900" b="1" dirty="0">
                <a:effectLst/>
                <a:latin typeface="+mj-lt"/>
                <a:ea typeface="Times New Roman" panose="02020603050405020304" pitchFamily="18" charset="0"/>
                <a:cs typeface="Times New Roman" panose="02020603050405020304" pitchFamily="18" charset="0"/>
              </a:rPr>
              <a:t>Businessmen/ Women</a:t>
            </a:r>
          </a:p>
          <a:p>
            <a:pPr marL="457200" lvl="1" indent="0">
              <a:buSzPts val="1000"/>
              <a:buNone/>
              <a:tabLst>
                <a:tab pos="914400" algn="l"/>
              </a:tabLst>
            </a:pPr>
            <a:r>
              <a:rPr lang="en-US" sz="2900" b="1" dirty="0">
                <a:effectLst/>
                <a:latin typeface="+mj-lt"/>
                <a:ea typeface="Times New Roman" panose="02020603050405020304" pitchFamily="18" charset="0"/>
                <a:cs typeface="Times New Roman" panose="02020603050405020304" pitchFamily="18" charset="0"/>
              </a:rPr>
              <a:t>(</a:t>
            </a:r>
            <a:r>
              <a:rPr lang="en-GH" sz="2900" b="1" dirty="0">
                <a:effectLst/>
                <a:latin typeface="+mj-lt"/>
                <a:ea typeface="Times New Roman" panose="02020603050405020304" pitchFamily="18" charset="0"/>
                <a:cs typeface="Times New Roman" panose="02020603050405020304" pitchFamily="18" charset="0"/>
              </a:rPr>
              <a:t>Artisans</a:t>
            </a:r>
            <a:r>
              <a:rPr lang="en-US" sz="2900" b="1" dirty="0">
                <a:effectLst/>
                <a:latin typeface="+mj-lt"/>
                <a:ea typeface="Times New Roman" panose="02020603050405020304" pitchFamily="18" charset="0"/>
                <a:cs typeface="Times New Roman" panose="02020603050405020304" pitchFamily="18" charset="0"/>
              </a:rPr>
              <a:t>)</a:t>
            </a:r>
            <a:r>
              <a:rPr lang="en-GH" sz="2900" b="1" dirty="0">
                <a:effectLst/>
                <a:latin typeface="+mj-lt"/>
                <a:ea typeface="Times New Roman" panose="02020603050405020304" pitchFamily="18" charset="0"/>
                <a:cs typeface="Times New Roman" panose="02020603050405020304" pitchFamily="18" charset="0"/>
              </a:rPr>
              <a:t> </a:t>
            </a:r>
            <a:endParaRPr lang="en-US" sz="2900" b="1" dirty="0">
              <a:effectLst/>
              <a:latin typeface="+mj-lt"/>
              <a:ea typeface="Times New Roman" panose="02020603050405020304" pitchFamily="18" charset="0"/>
              <a:cs typeface="Times New Roman" panose="02020603050405020304" pitchFamily="18" charset="0"/>
            </a:endParaRPr>
          </a:p>
          <a:p>
            <a:pPr marL="457200" lvl="1" indent="0">
              <a:buSzPts val="1000"/>
              <a:buNone/>
              <a:tabLst>
                <a:tab pos="914400" algn="l"/>
              </a:tabLst>
            </a:pPr>
            <a:endParaRPr lang="en-GH" sz="1800" dirty="0">
              <a:solidFill>
                <a:srgbClr val="FFC000"/>
              </a:solidFill>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Carpenters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Masons and Builders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Electricians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Plumbers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Welders and Fabricators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Tailors /Dressmakers/Fashion Designers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Hairdressers and Barbers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Farmers and Agribusiness Operators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Mechanics and Auto Technicians</a:t>
            </a:r>
            <a:endParaRPr lang="en-GH" sz="2400" b="1" dirty="0">
              <a:effectLst/>
              <a:latin typeface="+mj-lt"/>
              <a:ea typeface="Calibri" panose="020F0502020204030204" pitchFamily="34" charset="0"/>
              <a:cs typeface="Times New Roman" panose="02020603050405020304" pitchFamily="18" charset="0"/>
            </a:endParaRPr>
          </a:p>
          <a:p>
            <a:pPr marL="457200" indent="-457200">
              <a:buSzPts val="1000"/>
              <a:buFont typeface="+mj-lt"/>
              <a:buAutoNum type="arabicPeriod"/>
              <a:tabLst>
                <a:tab pos="1371600" algn="l"/>
              </a:tabLst>
            </a:pPr>
            <a:r>
              <a:rPr lang="en-GH" sz="2400" b="1" dirty="0">
                <a:effectLst/>
                <a:latin typeface="+mj-lt"/>
                <a:ea typeface="Times New Roman" panose="02020603050405020304" pitchFamily="18" charset="0"/>
                <a:cs typeface="Times New Roman" panose="02020603050405020304" pitchFamily="18" charset="0"/>
              </a:rPr>
              <a:t>Craftsmen and Craftswomen</a:t>
            </a:r>
            <a:endParaRPr lang="en-GH" sz="2400" b="1" dirty="0">
              <a:effectLst/>
              <a:latin typeface="+mj-lt"/>
              <a:ea typeface="Calibri" panose="020F0502020204030204" pitchFamily="34" charset="0"/>
              <a:cs typeface="Times New Roman" panose="02020603050405020304" pitchFamily="18" charset="0"/>
            </a:endParaRPr>
          </a:p>
          <a:p>
            <a:endParaRPr lang="en-GH" sz="2000" dirty="0">
              <a:latin typeface="+mj-lt"/>
            </a:endParaRPr>
          </a:p>
        </p:txBody>
      </p:sp>
      <p:sp>
        <p:nvSpPr>
          <p:cNvPr id="11" name="Rectangle: Rounded Corners 10">
            <a:extLst>
              <a:ext uri="{FF2B5EF4-FFF2-40B4-BE49-F238E27FC236}">
                <a16:creationId xmlns:a16="http://schemas.microsoft.com/office/drawing/2014/main" id="{691B6753-7265-0458-2FA5-5DD02393371E}"/>
              </a:ext>
            </a:extLst>
          </p:cNvPr>
          <p:cNvSpPr/>
          <p:nvPr/>
        </p:nvSpPr>
        <p:spPr>
          <a:xfrm>
            <a:off x="7765965" y="1223550"/>
            <a:ext cx="3769922" cy="5162048"/>
          </a:xfrm>
          <a:prstGeom prst="roundRect">
            <a:avLst>
              <a:gd name="adj" fmla="val 17102"/>
            </a:avLst>
          </a:prstGeom>
          <a:noFill/>
          <a:ln w="38100">
            <a:solidFill>
              <a:srgbClr val="660066"/>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GH" dirty="0">
              <a:latin typeface="+mj-lt"/>
            </a:endParaRPr>
          </a:p>
        </p:txBody>
      </p:sp>
      <p:sp>
        <p:nvSpPr>
          <p:cNvPr id="12" name="Content Placeholder 6">
            <a:extLst>
              <a:ext uri="{FF2B5EF4-FFF2-40B4-BE49-F238E27FC236}">
                <a16:creationId xmlns:a16="http://schemas.microsoft.com/office/drawing/2014/main" id="{E901DBF9-4649-BE1D-5158-5545D2B3520F}"/>
              </a:ext>
            </a:extLst>
          </p:cNvPr>
          <p:cNvSpPr txBox="1">
            <a:spLocks/>
          </p:cNvSpPr>
          <p:nvPr/>
        </p:nvSpPr>
        <p:spPr>
          <a:xfrm>
            <a:off x="7570110" y="1405555"/>
            <a:ext cx="3769924" cy="488789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70000"/>
              </a:lnSpc>
              <a:buSzPts val="1000"/>
              <a:buNone/>
              <a:tabLst>
                <a:tab pos="914400" algn="l"/>
              </a:tabLst>
            </a:pPr>
            <a:r>
              <a:rPr lang="en-US" sz="2000" b="1" dirty="0">
                <a:latin typeface="+mj-lt"/>
                <a:cs typeface="Times New Roman" panose="02020603050405020304" pitchFamily="18" charset="0"/>
              </a:rPr>
              <a:t>Businessmen/ Women</a:t>
            </a:r>
          </a:p>
          <a:p>
            <a:pPr marL="457200" lvl="1" indent="0">
              <a:lnSpc>
                <a:spcPct val="70000"/>
              </a:lnSpc>
              <a:buSzPts val="1000"/>
              <a:buNone/>
              <a:tabLst>
                <a:tab pos="914400" algn="l"/>
              </a:tabLst>
            </a:pPr>
            <a:r>
              <a:rPr lang="en-US" sz="2000" b="1" dirty="0">
                <a:latin typeface="+mj-lt"/>
                <a:cs typeface="Times New Roman" panose="02020603050405020304" pitchFamily="18" charset="0"/>
              </a:rPr>
              <a:t>        (Vendors)</a:t>
            </a:r>
            <a:r>
              <a:rPr lang="en-GH" sz="2000" b="1" dirty="0">
                <a:latin typeface="+mj-lt"/>
                <a:cs typeface="Times New Roman" panose="02020603050405020304" pitchFamily="18" charset="0"/>
              </a:rPr>
              <a:t> </a:t>
            </a:r>
            <a:endParaRPr lang="en-US" sz="2000" b="1" dirty="0">
              <a:latin typeface="+mj-lt"/>
              <a:cs typeface="Times New Roman" panose="02020603050405020304" pitchFamily="18" charset="0"/>
            </a:endParaRPr>
          </a:p>
          <a:p>
            <a:pPr marL="457200" lvl="1" indent="0">
              <a:lnSpc>
                <a:spcPct val="70000"/>
              </a:lnSpc>
              <a:buSzPts val="1000"/>
              <a:buNone/>
              <a:tabLst>
                <a:tab pos="914400" algn="l"/>
              </a:tabLst>
            </a:pPr>
            <a:endParaRPr lang="en-US" sz="2000" b="1" dirty="0">
              <a:latin typeface="+mj-lt"/>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Event Planners</a:t>
            </a:r>
            <a:r>
              <a:rPr lang="en-US" sz="1700" b="1" dirty="0">
                <a:latin typeface="+mj-lt"/>
                <a:ea typeface="Times New Roman" panose="02020603050405020304" pitchFamily="18" charset="0"/>
                <a:cs typeface="Times New Roman" panose="02020603050405020304" pitchFamily="18" charset="0"/>
              </a:rPr>
              <a:t> ( Décor, Caterers, photographers, etc.)</a:t>
            </a:r>
          </a:p>
          <a:p>
            <a:pPr marL="800100" lvl="1" indent="-342900">
              <a:lnSpc>
                <a:spcPct val="70000"/>
              </a:lnSpc>
              <a:buSzPts val="1000"/>
              <a:buFont typeface="+mj-lt"/>
              <a:buAutoNum type="arabicPeriod"/>
              <a:tabLst>
                <a:tab pos="914400" algn="l"/>
              </a:tabLst>
            </a:pP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Beauty and Personal Care Service Providers</a:t>
            </a:r>
            <a:endParaRPr lang="en-US" sz="1700" b="1" dirty="0">
              <a:latin typeface="+mj-lt"/>
              <a:ea typeface="Times New Roman" panose="02020603050405020304" pitchFamily="18"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Traders and Market Women/Men</a:t>
            </a:r>
            <a:endParaRPr lang="en-US" sz="1700" b="1" dirty="0">
              <a:latin typeface="+mj-lt"/>
              <a:ea typeface="Times New Roman" panose="02020603050405020304" pitchFamily="18"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Retail Shop Owners</a:t>
            </a:r>
            <a:endParaRPr lang="en-US" sz="1700" b="1" dirty="0">
              <a:latin typeface="+mj-lt"/>
              <a:ea typeface="Times New Roman" panose="02020603050405020304" pitchFamily="18"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Wholesalers and Distributors</a:t>
            </a:r>
            <a:endParaRPr lang="en-US" sz="1700" b="1" dirty="0">
              <a:latin typeface="+mj-lt"/>
              <a:ea typeface="Times New Roman" panose="02020603050405020304" pitchFamily="18"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Street Vendors and Hawkers</a:t>
            </a:r>
            <a:endParaRPr lang="en-US" sz="1700" b="1" dirty="0">
              <a:latin typeface="+mj-lt"/>
              <a:ea typeface="Calibri" panose="020F0502020204030204" pitchFamily="34" charset="0"/>
              <a:cs typeface="Times New Roman" panose="02020603050405020304" pitchFamily="18" charset="0"/>
            </a:endParaRPr>
          </a:p>
          <a:p>
            <a:pPr marL="800100" lvl="1" indent="-342900">
              <a:lnSpc>
                <a:spcPct val="70000"/>
              </a:lnSpc>
              <a:buSzPts val="1000"/>
              <a:buFont typeface="+mj-lt"/>
              <a:buAutoNum type="arabicPeriod"/>
              <a:tabLst>
                <a:tab pos="914400" algn="l"/>
              </a:tabLst>
            </a:pPr>
            <a:r>
              <a:rPr lang="en-GH" sz="1700" b="1" dirty="0">
                <a:latin typeface="+mj-lt"/>
                <a:ea typeface="Times New Roman" panose="02020603050405020304" pitchFamily="18" charset="0"/>
                <a:cs typeface="Times New Roman" panose="02020603050405020304" pitchFamily="18" charset="0"/>
              </a:rPr>
              <a:t>Transport Service Providers</a:t>
            </a:r>
            <a:endParaRPr lang="en-GH" sz="1700" b="1" dirty="0">
              <a:latin typeface="+mj-lt"/>
              <a:ea typeface="Calibri" panose="020F0502020204030204" pitchFamily="34" charset="0"/>
              <a:cs typeface="Times New Roman" panose="02020603050405020304" pitchFamily="18" charset="0"/>
            </a:endParaRPr>
          </a:p>
          <a:p>
            <a:pPr marL="342900" indent="-342900">
              <a:buSzPts val="1000"/>
              <a:buFont typeface="Symbol" panose="05050102010706020507" pitchFamily="18" charset="2"/>
              <a:buChar char=""/>
              <a:tabLst>
                <a:tab pos="457200" algn="l"/>
              </a:tabLst>
            </a:pPr>
            <a:endParaRPr lang="en-US" sz="2000" dirty="0">
              <a:latin typeface="Times New Roman" panose="02020603050405020304" pitchFamily="18" charset="0"/>
              <a:ea typeface="Times New Roman" panose="02020603050405020304" pitchFamily="18" charset="0"/>
              <a:cs typeface="Arial" panose="020B0604020202020204" pitchFamily="34" charset="0"/>
            </a:endParaRPr>
          </a:p>
          <a:p>
            <a:endParaRPr lang="en-GH" sz="2000" dirty="0"/>
          </a:p>
        </p:txBody>
      </p:sp>
    </p:spTree>
    <p:extLst>
      <p:ext uri="{BB962C8B-B14F-4D97-AF65-F5344CB8AC3E}">
        <p14:creationId xmlns:p14="http://schemas.microsoft.com/office/powerpoint/2010/main" val="345045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DBBC82-0CD1-59A3-1D6A-4FE816A4840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247ACF1-EA1C-7F0C-25DB-80D664D53F0D}"/>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3" name="Title 1">
            <a:extLst>
              <a:ext uri="{FF2B5EF4-FFF2-40B4-BE49-F238E27FC236}">
                <a16:creationId xmlns:a16="http://schemas.microsoft.com/office/drawing/2014/main" id="{8338A922-E869-F1E6-FEF2-91130699547C}"/>
              </a:ext>
            </a:extLst>
          </p:cNvPr>
          <p:cNvSpPr txBox="1">
            <a:spLocks/>
          </p:cNvSpPr>
          <p:nvPr/>
        </p:nvSpPr>
        <p:spPr>
          <a:xfrm>
            <a:off x="847343" y="-120034"/>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PPN Structure in Church Organogram</a:t>
            </a:r>
            <a:endParaRPr lang="en-GH" dirty="0">
              <a:solidFill>
                <a:srgbClr val="660066"/>
              </a:solidFill>
              <a:cs typeface="Times New Roman" panose="02020603050405020304" pitchFamily="18" charset="0"/>
            </a:endParaRPr>
          </a:p>
        </p:txBody>
      </p:sp>
      <p:sp>
        <p:nvSpPr>
          <p:cNvPr id="17" name="TextBox 16">
            <a:extLst>
              <a:ext uri="{FF2B5EF4-FFF2-40B4-BE49-F238E27FC236}">
                <a16:creationId xmlns:a16="http://schemas.microsoft.com/office/drawing/2014/main" id="{E3662314-30D9-EBCB-BAE0-70B41FDECB65}"/>
              </a:ext>
            </a:extLst>
          </p:cNvPr>
          <p:cNvSpPr txBox="1"/>
          <p:nvPr/>
        </p:nvSpPr>
        <p:spPr>
          <a:xfrm>
            <a:off x="4717595" y="3560164"/>
            <a:ext cx="3880829"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Professional Network Coordinators </a:t>
            </a:r>
          </a:p>
        </p:txBody>
      </p:sp>
      <p:grpSp>
        <p:nvGrpSpPr>
          <p:cNvPr id="82" name="Group 81">
            <a:extLst>
              <a:ext uri="{FF2B5EF4-FFF2-40B4-BE49-F238E27FC236}">
                <a16:creationId xmlns:a16="http://schemas.microsoft.com/office/drawing/2014/main" id="{DA5E617D-20AB-B0E6-6C6A-0DF10D317BFA}"/>
              </a:ext>
            </a:extLst>
          </p:cNvPr>
          <p:cNvGrpSpPr/>
          <p:nvPr/>
        </p:nvGrpSpPr>
        <p:grpSpPr>
          <a:xfrm>
            <a:off x="5135954" y="1071419"/>
            <a:ext cx="6651266" cy="5520490"/>
            <a:chOff x="5135954" y="1071419"/>
            <a:chExt cx="6651266" cy="5520490"/>
          </a:xfrm>
        </p:grpSpPr>
        <p:sp>
          <p:nvSpPr>
            <p:cNvPr id="41" name="Content Placeholder 5">
              <a:extLst>
                <a:ext uri="{FF2B5EF4-FFF2-40B4-BE49-F238E27FC236}">
                  <a16:creationId xmlns:a16="http://schemas.microsoft.com/office/drawing/2014/main" id="{7124D5A7-EB59-88B1-4888-CC6F39BCE1BD}"/>
                </a:ext>
              </a:extLst>
            </p:cNvPr>
            <p:cNvSpPr txBox="1">
              <a:spLocks/>
            </p:cNvSpPr>
            <p:nvPr/>
          </p:nvSpPr>
          <p:spPr>
            <a:xfrm>
              <a:off x="5135954" y="1071419"/>
              <a:ext cx="6651266" cy="5520490"/>
            </a:xfrm>
            <a:prstGeom prst="roundRect">
              <a:avLst>
                <a:gd name="adj" fmla="val 17443"/>
              </a:avLst>
            </a:prstGeom>
            <a:solidFill>
              <a:srgbClr val="FFFFFF"/>
            </a:solidFill>
            <a:ln w="28575">
              <a:solidFill>
                <a:srgbClr val="FFC000">
                  <a:lumMod val="75000"/>
                </a:srgbClr>
              </a:solidFill>
            </a:ln>
          </p:spPr>
          <p:txBody>
            <a:bodyPr vert="horz" lIns="91440" tIns="45720" rIns="91440" bIns="45720" rtlCol="0">
              <a:normAutofit fontScale="25000" lnSpcReduction="20000"/>
            </a:bodyPr>
            <a:lstStyle>
              <a:lvl1pPr marL="228600" indent="-228600">
                <a:lnSpc>
                  <a:spcPct val="90000"/>
                </a:lnSpc>
                <a:spcBef>
                  <a:spcPts val="1000"/>
                </a:spcBef>
                <a:buFont typeface="Arial" panose="020B0604020202020204" pitchFamily="34" charset="0"/>
                <a:buChar char="•"/>
                <a:defRPr sz="4900">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0" indent="0">
                <a:buNone/>
                <a:defRPr/>
              </a:pPr>
              <a:endParaRPr lang="en-US" sz="8000" b="1" kern="0" dirty="0">
                <a:solidFill>
                  <a:prstClr val="black"/>
                </a:solidFill>
                <a:cs typeface="Times New Roman" panose="02020603050405020304" pitchFamily="18" charset="0"/>
              </a:endParaRPr>
            </a:p>
            <a:p>
              <a:pPr marL="0" lvl="0" indent="0">
                <a:buNone/>
                <a:defRPr/>
              </a:pPr>
              <a:endParaRPr lang="en-US" sz="8000" b="1" kern="0" dirty="0">
                <a:solidFill>
                  <a:prstClr val="black"/>
                </a:solidFill>
                <a:cs typeface="Times New Roman" panose="02020603050405020304" pitchFamily="18" charset="0"/>
              </a:endParaRPr>
            </a:p>
            <a:p>
              <a:pPr marL="0" lvl="0" indent="0">
                <a:buNone/>
                <a:defRPr/>
              </a:pPr>
              <a:r>
                <a:rPr lang="en-US" sz="8000" b="1" kern="0" dirty="0">
                  <a:solidFill>
                    <a:prstClr val="black"/>
                  </a:solidFill>
                  <a:cs typeface="Times New Roman" panose="02020603050405020304" pitchFamily="18" charset="0"/>
                </a:rPr>
                <a:t>Resident Pastor</a:t>
              </a:r>
            </a:p>
            <a:p>
              <a:pPr lvl="0"/>
              <a:r>
                <a:rPr lang="en-GH" sz="8000" dirty="0">
                  <a:cs typeface="Times New Roman" panose="02020603050405020304" pitchFamily="18" charset="0"/>
                </a:rPr>
                <a:t>Provides spiritual oversight.</a:t>
              </a:r>
            </a:p>
            <a:p>
              <a:pPr lvl="0"/>
              <a:r>
                <a:rPr lang="en-GH" sz="8000" dirty="0">
                  <a:cs typeface="Times New Roman" panose="02020603050405020304" pitchFamily="18" charset="0"/>
                </a:rPr>
                <a:t>Ensures alignment with the church's vision and doctrine.</a:t>
              </a:r>
            </a:p>
            <a:p>
              <a:pPr lvl="0"/>
              <a:r>
                <a:rPr lang="en-GH" sz="8000" dirty="0">
                  <a:cs typeface="Times New Roman" panose="02020603050405020304" pitchFamily="18" charset="0"/>
                </a:rPr>
                <a:t>Advises the</a:t>
              </a:r>
              <a:r>
                <a:rPr lang="en-US" sz="8000" dirty="0">
                  <a:cs typeface="Times New Roman" panose="02020603050405020304" pitchFamily="18" charset="0"/>
                </a:rPr>
                <a:t> sub-professional groups</a:t>
              </a:r>
              <a:r>
                <a:rPr lang="en-GH" sz="8000" dirty="0">
                  <a:cs typeface="Times New Roman" panose="02020603050405020304" pitchFamily="18" charset="0"/>
                </a:rPr>
                <a:t>.</a:t>
              </a:r>
              <a:endParaRPr lang="en-US" sz="8000" dirty="0">
                <a:cs typeface="Times New Roman" panose="02020603050405020304" pitchFamily="18" charset="0"/>
              </a:endParaRPr>
            </a:p>
            <a:p>
              <a:pPr marL="0" lvl="0" indent="0">
                <a:buNone/>
              </a:pPr>
              <a:endParaRPr lang="en-US" sz="8000" dirty="0">
                <a:cs typeface="Times New Roman" panose="02020603050405020304" pitchFamily="18" charset="0"/>
              </a:endParaRPr>
            </a:p>
            <a:p>
              <a:pPr>
                <a:buNone/>
              </a:pPr>
              <a:r>
                <a:rPr lang="en-GH" sz="8000" b="1" dirty="0">
                  <a:ea typeface="Times New Roman" panose="02020603050405020304" pitchFamily="18" charset="0"/>
                  <a:cs typeface="Times New Roman" panose="02020603050405020304" pitchFamily="18" charset="0"/>
                </a:rPr>
                <a:t>Head of the</a:t>
              </a:r>
              <a:r>
                <a:rPr lang="en-US" sz="8000" b="1" dirty="0">
                  <a:ea typeface="Times New Roman" panose="02020603050405020304" pitchFamily="18" charset="0"/>
                  <a:cs typeface="Times New Roman" panose="02020603050405020304" pitchFamily="18" charset="0"/>
                </a:rPr>
                <a:t> Professional </a:t>
              </a:r>
              <a:r>
                <a:rPr lang="en-GH" sz="8000" b="1" dirty="0">
                  <a:ea typeface="Times New Roman" panose="02020603050405020304" pitchFamily="18" charset="0"/>
                  <a:cs typeface="Times New Roman" panose="02020603050405020304" pitchFamily="18" charset="0"/>
                </a:rPr>
                <a:t> Coordinators</a:t>
              </a:r>
              <a:endParaRPr lang="en-GH" sz="8000" b="1" dirty="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GH" sz="8000" dirty="0">
                  <a:ea typeface="Times New Roman" panose="02020603050405020304" pitchFamily="18" charset="0"/>
                  <a:cs typeface="Times New Roman" panose="02020603050405020304" pitchFamily="18" charset="0"/>
                </a:rPr>
                <a:t>Provides overall leadership</a:t>
              </a:r>
              <a:r>
                <a:rPr lang="en-US" sz="8000" dirty="0">
                  <a:ea typeface="Times New Roman" panose="02020603050405020304" pitchFamily="18" charset="0"/>
                  <a:cs typeface="Times New Roman" panose="02020603050405020304" pitchFamily="18" charset="0"/>
                </a:rPr>
                <a:t> of all the </a:t>
              </a:r>
              <a:r>
                <a:rPr lang="en-US" sz="8000" dirty="0">
                  <a:cs typeface="Times New Roman" panose="02020603050405020304" pitchFamily="18" charset="0"/>
                </a:rPr>
                <a:t>sub-professional groups.</a:t>
              </a:r>
              <a:endParaRPr lang="en-GH" sz="8000" dirty="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GH" sz="8000" dirty="0">
                  <a:ea typeface="Times New Roman" panose="02020603050405020304" pitchFamily="18" charset="0"/>
                  <a:cs typeface="Times New Roman" panose="02020603050405020304" pitchFamily="18" charset="0"/>
                </a:rPr>
                <a:t>Coordinates meetings and activities.</a:t>
              </a:r>
              <a:endParaRPr lang="en-GH" sz="8000" dirty="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GH" sz="8000" dirty="0">
                  <a:ea typeface="Times New Roman" panose="02020603050405020304" pitchFamily="18" charset="0"/>
                  <a:cs typeface="Times New Roman" panose="02020603050405020304" pitchFamily="18" charset="0"/>
                </a:rPr>
                <a:t>Represents the group before church leadership.</a:t>
              </a:r>
              <a:endParaRPr lang="en-GH" sz="8000" dirty="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GH" sz="8000" dirty="0">
                  <a:ea typeface="Times New Roman" panose="02020603050405020304" pitchFamily="18" charset="0"/>
                  <a:cs typeface="Times New Roman" panose="02020603050405020304" pitchFamily="18" charset="0"/>
                </a:rPr>
                <a:t>Organises the annual professional conference or summit</a:t>
              </a:r>
              <a:endParaRPr lang="en-GH" sz="8000" dirty="0">
                <a:ea typeface="Calibri" panose="020F0502020204030204" pitchFamily="34"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GH" sz="8000" dirty="0">
                  <a:ea typeface="Times New Roman" panose="02020603050405020304" pitchFamily="18" charset="0"/>
                  <a:cs typeface="Times New Roman" panose="02020603050405020304" pitchFamily="18" charset="0"/>
                </a:rPr>
                <a:t>Mandate is 1 (one) year rotational.</a:t>
              </a:r>
              <a:endParaRPr lang="en-US" sz="2400" b="1" kern="0" dirty="0">
                <a:solidFill>
                  <a:prstClr val="black"/>
                </a:solidFill>
                <a:cs typeface="Times New Roman" panose="02020603050405020304" pitchFamily="18" charset="0"/>
              </a:endParaRPr>
            </a:p>
            <a:p>
              <a:pPr marL="0" marR="0" lvl="0" indent="0" defTabSz="914400" eaLnBrk="1" fontAlgn="auto" latinLnBrk="0" hangingPunct="1">
                <a:lnSpc>
                  <a:spcPct val="90000"/>
                </a:lnSpc>
                <a:spcBef>
                  <a:spcPts val="1000"/>
                </a:spcBef>
                <a:spcAft>
                  <a:spcPts val="0"/>
                </a:spcAft>
                <a:buClrTx/>
                <a:buSzTx/>
                <a:buNone/>
                <a:tabLst/>
                <a:defRPr/>
              </a:pPr>
              <a:r>
                <a:rPr lang="en-GH" sz="2400" dirty="0">
                  <a:cs typeface="Times New Roman" panose="02020603050405020304" pitchFamily="18" charset="0"/>
                </a:rPr>
                <a:t>.</a:t>
              </a:r>
            </a:p>
            <a:p>
              <a:pPr>
                <a:defRPr/>
              </a:pPr>
              <a:endParaRPr kumimoji="0" lang="en-US" sz="2400" i="0" u="none" strike="noStrike" kern="0" cap="none" spc="0" normalizeH="0" baseline="0" noProof="0" dirty="0">
                <a:ln>
                  <a:noFill/>
                </a:ln>
                <a:solidFill>
                  <a:prstClr val="black"/>
                </a:solidFill>
                <a:effectLst/>
                <a:uLnTx/>
                <a:uFillTx/>
                <a:cs typeface="Times New Roman" panose="02020603050405020304" pitchFamily="18" charset="0"/>
              </a:endParaRPr>
            </a:p>
            <a:p>
              <a:pPr>
                <a:defRPr/>
              </a:pPr>
              <a:endParaRPr kumimoji="0" lang="en-US" sz="1800" i="0" u="none" strike="noStrike" kern="0" cap="none" spc="0" normalizeH="0" baseline="0" noProof="0" dirty="0">
                <a:ln>
                  <a:noFill/>
                </a:ln>
                <a:solidFill>
                  <a:prstClr val="black"/>
                </a:solidFill>
                <a:effectLst/>
                <a:uLnTx/>
                <a:uFillTx/>
                <a:cs typeface="Times New Roman" panose="02020603050405020304" pitchFamily="18" charset="0"/>
              </a:endParaRPr>
            </a:p>
            <a:p>
              <a:pPr marL="0" marR="0" lvl="0" indent="0" defTabSz="914400" eaLnBrk="1" fontAlgn="auto" latinLnBrk="0" hangingPunct="1">
                <a:lnSpc>
                  <a:spcPct val="90000"/>
                </a:lnSpc>
                <a:spcBef>
                  <a:spcPts val="1000"/>
                </a:spcBef>
                <a:spcAft>
                  <a:spcPts val="0"/>
                </a:spcAft>
                <a:buClrTx/>
                <a:buSzTx/>
                <a:buNone/>
                <a:tabLst/>
                <a:defRPr/>
              </a:pPr>
              <a:endParaRPr kumimoji="0" lang="en-US" sz="1800" b="1"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90000"/>
                </a:lnSpc>
                <a:spcBef>
                  <a:spcPts val="1000"/>
                </a:spcBef>
                <a:spcAft>
                  <a:spcPts val="0"/>
                </a:spcAft>
                <a:buClrTx/>
                <a:buSzTx/>
                <a:buNone/>
                <a:tabLst/>
                <a:defRPr/>
              </a:pPr>
              <a:endParaRPr kumimoji="0" lang="en-US" sz="18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90000"/>
                </a:lnSpc>
                <a:spcBef>
                  <a:spcPts val="1000"/>
                </a:spcBef>
                <a:spcAft>
                  <a:spcPts val="0"/>
                </a:spcAft>
                <a:buClrTx/>
                <a:buSzTx/>
                <a:buNone/>
                <a:tabLst/>
                <a:defRPr/>
              </a:pPr>
              <a:endParaRPr kumimoji="0" lang="en-GB" sz="4900" b="0" i="0" u="none" strike="noStrike" kern="0" cap="none" spc="0" normalizeH="0" baseline="0" noProof="0" dirty="0">
                <a:ln>
                  <a:noFill/>
                </a:ln>
                <a:solidFill>
                  <a:prstClr val="black"/>
                </a:solidFill>
                <a:effectLst/>
                <a:uLnTx/>
                <a:uFillTx/>
              </a:endParaRPr>
            </a:p>
          </p:txBody>
        </p:sp>
        <p:sp>
          <p:nvSpPr>
            <p:cNvPr id="43" name="TextBox 42">
              <a:extLst>
                <a:ext uri="{FF2B5EF4-FFF2-40B4-BE49-F238E27FC236}">
                  <a16:creationId xmlns:a16="http://schemas.microsoft.com/office/drawing/2014/main" id="{B161C12F-F2D1-18E6-3648-A0C642FBD262}"/>
                </a:ext>
              </a:extLst>
            </p:cNvPr>
            <p:cNvSpPr txBox="1"/>
            <p:nvPr/>
          </p:nvSpPr>
          <p:spPr>
            <a:xfrm>
              <a:off x="5733370" y="1196435"/>
              <a:ext cx="5456434" cy="523220"/>
            </a:xfrm>
            <a:prstGeom prst="rect">
              <a:avLst/>
            </a:prstGeom>
            <a:solidFill>
              <a:srgbClr val="660066"/>
            </a:solidFill>
          </p:spPr>
          <p:txBody>
            <a:bodyPr wrap="square" rtlCol="0">
              <a:spAutoFit/>
            </a:bodyPr>
            <a:lstStyle/>
            <a:p>
              <a:pPr algn="ctr"/>
              <a:r>
                <a:rPr lang="en-US" sz="2800" b="1" dirty="0">
                  <a:solidFill>
                    <a:schemeClr val="bg1"/>
                  </a:solidFill>
                </a:rPr>
                <a:t>Responsibilities</a:t>
              </a:r>
              <a:endParaRPr lang="en-GH" sz="2800" b="1" dirty="0">
                <a:solidFill>
                  <a:schemeClr val="bg1"/>
                </a:solidFill>
              </a:endParaRPr>
            </a:p>
          </p:txBody>
        </p:sp>
      </p:grpSp>
      <p:grpSp>
        <p:nvGrpSpPr>
          <p:cNvPr id="81" name="Group 80">
            <a:extLst>
              <a:ext uri="{FF2B5EF4-FFF2-40B4-BE49-F238E27FC236}">
                <a16:creationId xmlns:a16="http://schemas.microsoft.com/office/drawing/2014/main" id="{F661A3E0-6748-C4D9-6C62-508DA1B8BDB1}"/>
              </a:ext>
            </a:extLst>
          </p:cNvPr>
          <p:cNvGrpSpPr/>
          <p:nvPr/>
        </p:nvGrpSpPr>
        <p:grpSpPr>
          <a:xfrm>
            <a:off x="-31557" y="1792037"/>
            <a:ext cx="5021424" cy="5111618"/>
            <a:chOff x="-31557" y="1505710"/>
            <a:chExt cx="5021424" cy="5111618"/>
          </a:xfrm>
        </p:grpSpPr>
        <p:pic>
          <p:nvPicPr>
            <p:cNvPr id="63" name="Graphic 62" descr="Group of people with solid fill">
              <a:extLst>
                <a:ext uri="{FF2B5EF4-FFF2-40B4-BE49-F238E27FC236}">
                  <a16:creationId xmlns:a16="http://schemas.microsoft.com/office/drawing/2014/main" id="{6B3FE965-CD2F-22F4-245D-02EA3C9C6A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926" y="5057967"/>
              <a:ext cx="1196634" cy="1196634"/>
            </a:xfrm>
            <a:prstGeom prst="rect">
              <a:avLst/>
            </a:prstGeom>
          </p:spPr>
        </p:pic>
        <p:sp>
          <p:nvSpPr>
            <p:cNvPr id="75" name="TextBox 74">
              <a:extLst>
                <a:ext uri="{FF2B5EF4-FFF2-40B4-BE49-F238E27FC236}">
                  <a16:creationId xmlns:a16="http://schemas.microsoft.com/office/drawing/2014/main" id="{C11EE2BF-CF37-D707-8BB9-C2411D73FFC7}"/>
                </a:ext>
              </a:extLst>
            </p:cNvPr>
            <p:cNvSpPr txBox="1"/>
            <p:nvPr/>
          </p:nvSpPr>
          <p:spPr>
            <a:xfrm>
              <a:off x="-31557" y="6278774"/>
              <a:ext cx="1361118"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PPN-1</a:t>
              </a:r>
            </a:p>
          </p:txBody>
        </p:sp>
        <p:grpSp>
          <p:nvGrpSpPr>
            <p:cNvPr id="80" name="Group 79">
              <a:extLst>
                <a:ext uri="{FF2B5EF4-FFF2-40B4-BE49-F238E27FC236}">
                  <a16:creationId xmlns:a16="http://schemas.microsoft.com/office/drawing/2014/main" id="{F05A9DC8-B61E-F873-89A0-CD08942B04CF}"/>
                </a:ext>
              </a:extLst>
            </p:cNvPr>
            <p:cNvGrpSpPr/>
            <p:nvPr/>
          </p:nvGrpSpPr>
          <p:grpSpPr>
            <a:xfrm>
              <a:off x="212213" y="1505710"/>
              <a:ext cx="4777654" cy="5111618"/>
              <a:chOff x="212213" y="1505710"/>
              <a:chExt cx="4777654" cy="5111618"/>
            </a:xfrm>
          </p:grpSpPr>
          <p:grpSp>
            <p:nvGrpSpPr>
              <p:cNvPr id="58" name="Group 57">
                <a:extLst>
                  <a:ext uri="{FF2B5EF4-FFF2-40B4-BE49-F238E27FC236}">
                    <a16:creationId xmlns:a16="http://schemas.microsoft.com/office/drawing/2014/main" id="{C43EFFC2-2F72-4275-26B6-1BC1F10B09BA}"/>
                  </a:ext>
                </a:extLst>
              </p:cNvPr>
              <p:cNvGrpSpPr/>
              <p:nvPr/>
            </p:nvGrpSpPr>
            <p:grpSpPr>
              <a:xfrm>
                <a:off x="616100" y="4075121"/>
                <a:ext cx="192882" cy="571668"/>
                <a:chOff x="1924297" y="3637180"/>
                <a:chExt cx="192882" cy="571668"/>
              </a:xfrm>
            </p:grpSpPr>
            <p:sp>
              <p:nvSpPr>
                <p:cNvPr id="32" name="Freeform 44">
                  <a:extLst>
                    <a:ext uri="{FF2B5EF4-FFF2-40B4-BE49-F238E27FC236}">
                      <a16:creationId xmlns:a16="http://schemas.microsoft.com/office/drawing/2014/main" id="{17FEE914-467C-6733-4A3A-8808842E00C7}"/>
                    </a:ext>
                  </a:extLst>
                </p:cNvPr>
                <p:cNvSpPr>
                  <a:spLocks/>
                </p:cNvSpPr>
                <p:nvPr/>
              </p:nvSpPr>
              <p:spPr bwMode="auto">
                <a:xfrm>
                  <a:off x="1924297" y="3743635"/>
                  <a:ext cx="192882" cy="465213"/>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33" name="Oval 45">
                  <a:extLst>
                    <a:ext uri="{FF2B5EF4-FFF2-40B4-BE49-F238E27FC236}">
                      <a16:creationId xmlns:a16="http://schemas.microsoft.com/office/drawing/2014/main" id="{0220F0A4-D082-7C8C-67AA-DFBBBB6994D9}"/>
                    </a:ext>
                  </a:extLst>
                </p:cNvPr>
                <p:cNvSpPr>
                  <a:spLocks noChangeArrowheads="1"/>
                </p:cNvSpPr>
                <p:nvPr/>
              </p:nvSpPr>
              <p:spPr bwMode="auto">
                <a:xfrm>
                  <a:off x="1979066" y="3637180"/>
                  <a:ext cx="82550" cy="87175"/>
                </a:xfrm>
                <a:prstGeom prst="ellipse">
                  <a:avLst/>
                </a:pr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sp>
            <p:nvSpPr>
              <p:cNvPr id="20" name="Oval 38">
                <a:extLst>
                  <a:ext uri="{FF2B5EF4-FFF2-40B4-BE49-F238E27FC236}">
                    <a16:creationId xmlns:a16="http://schemas.microsoft.com/office/drawing/2014/main" id="{1212A366-B7EE-C7C6-A57A-D48BB7DF2EA5}"/>
                  </a:ext>
                </a:extLst>
              </p:cNvPr>
              <p:cNvSpPr>
                <a:spLocks noChangeArrowheads="1"/>
              </p:cNvSpPr>
              <p:nvPr/>
            </p:nvSpPr>
            <p:spPr bwMode="auto">
              <a:xfrm>
                <a:off x="2090560" y="2639138"/>
                <a:ext cx="97948" cy="111117"/>
              </a:xfrm>
              <a:prstGeom prst="ellipse">
                <a:avLst/>
              </a:pr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nvGrpSpPr>
              <p:cNvPr id="21" name="กลุ่ม 140">
                <a:extLst>
                  <a:ext uri="{FF2B5EF4-FFF2-40B4-BE49-F238E27FC236}">
                    <a16:creationId xmlns:a16="http://schemas.microsoft.com/office/drawing/2014/main" id="{AEF3C76D-19AF-4A41-4E0D-C1C58AC4DF5C}"/>
                  </a:ext>
                </a:extLst>
              </p:cNvPr>
              <p:cNvGrpSpPr/>
              <p:nvPr/>
            </p:nvGrpSpPr>
            <p:grpSpPr>
              <a:xfrm>
                <a:off x="2018624" y="1505710"/>
                <a:ext cx="217351" cy="1711751"/>
                <a:chOff x="5828789" y="5398920"/>
                <a:chExt cx="434701" cy="3165108"/>
              </a:xfrm>
              <a:solidFill>
                <a:srgbClr val="660066"/>
              </a:solidFill>
            </p:grpSpPr>
            <p:sp>
              <p:nvSpPr>
                <p:cNvPr id="25" name="Freeform 44">
                  <a:extLst>
                    <a:ext uri="{FF2B5EF4-FFF2-40B4-BE49-F238E27FC236}">
                      <a16:creationId xmlns:a16="http://schemas.microsoft.com/office/drawing/2014/main" id="{0F705E38-F908-3CA6-FA9F-C14886149059}"/>
                    </a:ext>
                  </a:extLst>
                </p:cNvPr>
                <p:cNvSpPr>
                  <a:spLocks/>
                </p:cNvSpPr>
                <p:nvPr/>
              </p:nvSpPr>
              <p:spPr bwMode="auto">
                <a:xfrm>
                  <a:off x="5828789" y="5600534"/>
                  <a:ext cx="385763" cy="771648"/>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ea typeface="+mn-ea"/>
                    <a:cs typeface="+mn-cs"/>
                  </a:endParaRPr>
                </a:p>
              </p:txBody>
            </p:sp>
            <p:sp>
              <p:nvSpPr>
                <p:cNvPr id="26" name="Oval 45">
                  <a:extLst>
                    <a:ext uri="{FF2B5EF4-FFF2-40B4-BE49-F238E27FC236}">
                      <a16:creationId xmlns:a16="http://schemas.microsoft.com/office/drawing/2014/main" id="{553AF9D7-7D95-F88E-A1A7-3FD4A3C0BAA6}"/>
                    </a:ext>
                  </a:extLst>
                </p:cNvPr>
                <p:cNvSpPr>
                  <a:spLocks noChangeArrowheads="1"/>
                </p:cNvSpPr>
                <p:nvPr/>
              </p:nvSpPr>
              <p:spPr bwMode="auto">
                <a:xfrm>
                  <a:off x="5938327" y="5398920"/>
                  <a:ext cx="165100" cy="165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ea typeface="+mn-ea"/>
                    <a:cs typeface="+mn-cs"/>
                  </a:endParaRPr>
                </a:p>
              </p:txBody>
            </p:sp>
            <p:sp>
              <p:nvSpPr>
                <p:cNvPr id="27" name="Freeform 44">
                  <a:extLst>
                    <a:ext uri="{FF2B5EF4-FFF2-40B4-BE49-F238E27FC236}">
                      <a16:creationId xmlns:a16="http://schemas.microsoft.com/office/drawing/2014/main" id="{9AFDD913-C209-A7B6-FBA9-129A0918BA38}"/>
                    </a:ext>
                  </a:extLst>
                </p:cNvPr>
                <p:cNvSpPr>
                  <a:spLocks/>
                </p:cNvSpPr>
                <p:nvPr/>
              </p:nvSpPr>
              <p:spPr bwMode="auto">
                <a:xfrm>
                  <a:off x="5877727" y="7722306"/>
                  <a:ext cx="385763" cy="841722"/>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endParaRPr lang="th-TH" sz="900" dirty="0">
                    <a:solidFill>
                      <a:srgbClr val="996633"/>
                    </a:solidFill>
                  </a:endParaRPr>
                </a:p>
              </p:txBody>
            </p:sp>
          </p:grpSp>
          <p:sp>
            <p:nvSpPr>
              <p:cNvPr id="22" name="TextBox 21">
                <a:extLst>
                  <a:ext uri="{FF2B5EF4-FFF2-40B4-BE49-F238E27FC236}">
                    <a16:creationId xmlns:a16="http://schemas.microsoft.com/office/drawing/2014/main" id="{1EC134DC-843F-1CCC-FAE4-D29A04C55FD9}"/>
                  </a:ext>
                </a:extLst>
              </p:cNvPr>
              <p:cNvSpPr txBox="1"/>
              <p:nvPr/>
            </p:nvSpPr>
            <p:spPr>
              <a:xfrm>
                <a:off x="1047186" y="2004217"/>
                <a:ext cx="2430619"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IPC Resident Pastor</a:t>
                </a:r>
              </a:p>
            </p:txBody>
          </p:sp>
          <p:sp>
            <p:nvSpPr>
              <p:cNvPr id="23" name="TextBox 22">
                <a:extLst>
                  <a:ext uri="{FF2B5EF4-FFF2-40B4-BE49-F238E27FC236}">
                    <a16:creationId xmlns:a16="http://schemas.microsoft.com/office/drawing/2014/main" id="{A90D8B4F-3F02-6E84-2F1A-FEDD9D09F828}"/>
                  </a:ext>
                </a:extLst>
              </p:cNvPr>
              <p:cNvSpPr txBox="1"/>
              <p:nvPr/>
            </p:nvSpPr>
            <p:spPr>
              <a:xfrm>
                <a:off x="212213" y="3148462"/>
                <a:ext cx="4276945" cy="338554"/>
              </a:xfrm>
              <a:prstGeom prst="rect">
                <a:avLst/>
              </a:prstGeom>
              <a:noFill/>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Head of the Professional Network Coordinators</a:t>
                </a:r>
              </a:p>
            </p:txBody>
          </p:sp>
          <p:cxnSp>
            <p:nvCxnSpPr>
              <p:cNvPr id="36" name="Straight Arrow Connector 35">
                <a:extLst>
                  <a:ext uri="{FF2B5EF4-FFF2-40B4-BE49-F238E27FC236}">
                    <a16:creationId xmlns:a16="http://schemas.microsoft.com/office/drawing/2014/main" id="{AB111EB4-18A0-C2C7-6DED-6CAA8258FDED}"/>
                  </a:ext>
                </a:extLst>
              </p:cNvPr>
              <p:cNvCxnSpPr/>
              <p:nvPr/>
            </p:nvCxnSpPr>
            <p:spPr>
              <a:xfrm>
                <a:off x="1819656" y="2464325"/>
                <a:ext cx="0" cy="460292"/>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663F587-0EEC-1EF5-F2FE-FDAE53BFF723}"/>
                  </a:ext>
                </a:extLst>
              </p:cNvPr>
              <p:cNvCxnSpPr/>
              <p:nvPr/>
            </p:nvCxnSpPr>
            <p:spPr>
              <a:xfrm>
                <a:off x="1819656" y="3480996"/>
                <a:ext cx="0" cy="460292"/>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498095F9-D58F-3302-A78D-06D4842FD610}"/>
                  </a:ext>
                </a:extLst>
              </p:cNvPr>
              <p:cNvGrpSpPr/>
              <p:nvPr/>
            </p:nvGrpSpPr>
            <p:grpSpPr>
              <a:xfrm>
                <a:off x="1812813" y="4075121"/>
                <a:ext cx="192882" cy="571668"/>
                <a:chOff x="1924297" y="3637180"/>
                <a:chExt cx="192882" cy="571668"/>
              </a:xfrm>
            </p:grpSpPr>
            <p:sp>
              <p:nvSpPr>
                <p:cNvPr id="60" name="Freeform 44">
                  <a:extLst>
                    <a:ext uri="{FF2B5EF4-FFF2-40B4-BE49-F238E27FC236}">
                      <a16:creationId xmlns:a16="http://schemas.microsoft.com/office/drawing/2014/main" id="{FF7D236A-7FE4-BC13-7FEC-A9FA25813389}"/>
                    </a:ext>
                  </a:extLst>
                </p:cNvPr>
                <p:cNvSpPr>
                  <a:spLocks/>
                </p:cNvSpPr>
                <p:nvPr/>
              </p:nvSpPr>
              <p:spPr bwMode="auto">
                <a:xfrm>
                  <a:off x="1924297" y="3743635"/>
                  <a:ext cx="192882" cy="465213"/>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61" name="Oval 45">
                  <a:extLst>
                    <a:ext uri="{FF2B5EF4-FFF2-40B4-BE49-F238E27FC236}">
                      <a16:creationId xmlns:a16="http://schemas.microsoft.com/office/drawing/2014/main" id="{484EE394-780B-24D8-136B-8468F3E77E05}"/>
                    </a:ext>
                  </a:extLst>
                </p:cNvPr>
                <p:cNvSpPr>
                  <a:spLocks noChangeArrowheads="1"/>
                </p:cNvSpPr>
                <p:nvPr/>
              </p:nvSpPr>
              <p:spPr bwMode="auto">
                <a:xfrm>
                  <a:off x="1979066" y="3637180"/>
                  <a:ext cx="82550" cy="87175"/>
                </a:xfrm>
                <a:prstGeom prst="ellipse">
                  <a:avLst/>
                </a:pr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sp>
            <p:nvSpPr>
              <p:cNvPr id="65" name="TextBox 64">
                <a:extLst>
                  <a:ext uri="{FF2B5EF4-FFF2-40B4-BE49-F238E27FC236}">
                    <a16:creationId xmlns:a16="http://schemas.microsoft.com/office/drawing/2014/main" id="{FA1CEC7C-9CE4-0308-A2C4-767099F7C26F}"/>
                  </a:ext>
                </a:extLst>
              </p:cNvPr>
              <p:cNvSpPr txBox="1"/>
              <p:nvPr/>
            </p:nvSpPr>
            <p:spPr>
              <a:xfrm>
                <a:off x="468232" y="4666069"/>
                <a:ext cx="3880829"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Professional Network Coordinators</a:t>
                </a:r>
              </a:p>
            </p:txBody>
          </p:sp>
          <p:grpSp>
            <p:nvGrpSpPr>
              <p:cNvPr id="66" name="Group 65">
                <a:extLst>
                  <a:ext uri="{FF2B5EF4-FFF2-40B4-BE49-F238E27FC236}">
                    <a16:creationId xmlns:a16="http://schemas.microsoft.com/office/drawing/2014/main" id="{8F09DD49-DC4C-84F3-7DD7-E651B1FD340C}"/>
                  </a:ext>
                </a:extLst>
              </p:cNvPr>
              <p:cNvGrpSpPr/>
              <p:nvPr/>
            </p:nvGrpSpPr>
            <p:grpSpPr>
              <a:xfrm>
                <a:off x="3009526" y="4064180"/>
                <a:ext cx="192882" cy="571668"/>
                <a:chOff x="1924297" y="3637180"/>
                <a:chExt cx="192882" cy="571668"/>
              </a:xfrm>
            </p:grpSpPr>
            <p:sp>
              <p:nvSpPr>
                <p:cNvPr id="67" name="Freeform 44">
                  <a:extLst>
                    <a:ext uri="{FF2B5EF4-FFF2-40B4-BE49-F238E27FC236}">
                      <a16:creationId xmlns:a16="http://schemas.microsoft.com/office/drawing/2014/main" id="{0D281E3F-06DD-3770-2F9F-8DBA0777DBE6}"/>
                    </a:ext>
                  </a:extLst>
                </p:cNvPr>
                <p:cNvSpPr>
                  <a:spLocks/>
                </p:cNvSpPr>
                <p:nvPr/>
              </p:nvSpPr>
              <p:spPr bwMode="auto">
                <a:xfrm>
                  <a:off x="1924297" y="3743635"/>
                  <a:ext cx="192882" cy="465213"/>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68" name="Oval 45">
                  <a:extLst>
                    <a:ext uri="{FF2B5EF4-FFF2-40B4-BE49-F238E27FC236}">
                      <a16:creationId xmlns:a16="http://schemas.microsoft.com/office/drawing/2014/main" id="{4B6F3974-5567-7845-F497-C059763F90E3}"/>
                    </a:ext>
                  </a:extLst>
                </p:cNvPr>
                <p:cNvSpPr>
                  <a:spLocks noChangeArrowheads="1"/>
                </p:cNvSpPr>
                <p:nvPr/>
              </p:nvSpPr>
              <p:spPr bwMode="auto">
                <a:xfrm>
                  <a:off x="1979066" y="3637180"/>
                  <a:ext cx="82550" cy="87175"/>
                </a:xfrm>
                <a:prstGeom prst="ellipse">
                  <a:avLst/>
                </a:pr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grpSp>
            <p:nvGrpSpPr>
              <p:cNvPr id="69" name="Group 68">
                <a:extLst>
                  <a:ext uri="{FF2B5EF4-FFF2-40B4-BE49-F238E27FC236}">
                    <a16:creationId xmlns:a16="http://schemas.microsoft.com/office/drawing/2014/main" id="{40F485A5-9530-7BF1-BDEF-AC03C5D73AAF}"/>
                  </a:ext>
                </a:extLst>
              </p:cNvPr>
              <p:cNvGrpSpPr/>
              <p:nvPr/>
            </p:nvGrpSpPr>
            <p:grpSpPr>
              <a:xfrm>
                <a:off x="4206238" y="4064180"/>
                <a:ext cx="192882" cy="571668"/>
                <a:chOff x="1924297" y="3637180"/>
                <a:chExt cx="192882" cy="571668"/>
              </a:xfrm>
            </p:grpSpPr>
            <p:sp>
              <p:nvSpPr>
                <p:cNvPr id="70" name="Freeform 44">
                  <a:extLst>
                    <a:ext uri="{FF2B5EF4-FFF2-40B4-BE49-F238E27FC236}">
                      <a16:creationId xmlns:a16="http://schemas.microsoft.com/office/drawing/2014/main" id="{4CE6525A-32AD-5B26-9BF5-2C4D5466AE97}"/>
                    </a:ext>
                  </a:extLst>
                </p:cNvPr>
                <p:cNvSpPr>
                  <a:spLocks/>
                </p:cNvSpPr>
                <p:nvPr/>
              </p:nvSpPr>
              <p:spPr bwMode="auto">
                <a:xfrm>
                  <a:off x="1924297" y="3743635"/>
                  <a:ext cx="192882" cy="465213"/>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71" name="Oval 45">
                  <a:extLst>
                    <a:ext uri="{FF2B5EF4-FFF2-40B4-BE49-F238E27FC236}">
                      <a16:creationId xmlns:a16="http://schemas.microsoft.com/office/drawing/2014/main" id="{E5C955B6-AC1A-907B-138A-EB94F89AFDE0}"/>
                    </a:ext>
                  </a:extLst>
                </p:cNvPr>
                <p:cNvSpPr>
                  <a:spLocks noChangeArrowheads="1"/>
                </p:cNvSpPr>
                <p:nvPr/>
              </p:nvSpPr>
              <p:spPr bwMode="auto">
                <a:xfrm>
                  <a:off x="1979066" y="3637180"/>
                  <a:ext cx="82550" cy="87175"/>
                </a:xfrm>
                <a:prstGeom prst="ellipse">
                  <a:avLst/>
                </a:prstGeom>
                <a:solidFill>
                  <a:srgbClr val="66006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pic>
            <p:nvPicPr>
              <p:cNvPr id="72" name="Graphic 71" descr="Group of people with solid fill">
                <a:extLst>
                  <a:ext uri="{FF2B5EF4-FFF2-40B4-BE49-F238E27FC236}">
                    <a16:creationId xmlns:a16="http://schemas.microsoft.com/office/drawing/2014/main" id="{010A19ED-D3E2-6472-0073-20F7A9FB7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0540" y="5057967"/>
                <a:ext cx="1196634" cy="1196634"/>
              </a:xfrm>
              <a:prstGeom prst="rect">
                <a:avLst/>
              </a:prstGeom>
            </p:spPr>
          </p:pic>
          <p:pic>
            <p:nvPicPr>
              <p:cNvPr id="73" name="Graphic 72" descr="Group of people with solid fill">
                <a:extLst>
                  <a:ext uri="{FF2B5EF4-FFF2-40B4-BE49-F238E27FC236}">
                    <a16:creationId xmlns:a16="http://schemas.microsoft.com/office/drawing/2014/main" id="{47085462-0F71-73CD-8B49-4245DABCE4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8154" y="5057967"/>
                <a:ext cx="1196634" cy="1196634"/>
              </a:xfrm>
              <a:prstGeom prst="rect">
                <a:avLst/>
              </a:prstGeom>
            </p:spPr>
          </p:pic>
          <p:pic>
            <p:nvPicPr>
              <p:cNvPr id="74" name="Graphic 73" descr="Group of people with solid fill">
                <a:extLst>
                  <a:ext uri="{FF2B5EF4-FFF2-40B4-BE49-F238E27FC236}">
                    <a16:creationId xmlns:a16="http://schemas.microsoft.com/office/drawing/2014/main" id="{C32CE64A-7395-5220-E29F-816B71896E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65768" y="5057967"/>
                <a:ext cx="1196634" cy="1196634"/>
              </a:xfrm>
              <a:prstGeom prst="rect">
                <a:avLst/>
              </a:prstGeom>
            </p:spPr>
          </p:pic>
          <p:sp>
            <p:nvSpPr>
              <p:cNvPr id="76" name="TextBox 75">
                <a:extLst>
                  <a:ext uri="{FF2B5EF4-FFF2-40B4-BE49-F238E27FC236}">
                    <a16:creationId xmlns:a16="http://schemas.microsoft.com/office/drawing/2014/main" id="{5809F45E-DFBF-49BC-7E67-D2BE2D81E937}"/>
                  </a:ext>
                </a:extLst>
              </p:cNvPr>
              <p:cNvSpPr txBox="1"/>
              <p:nvPr/>
            </p:nvSpPr>
            <p:spPr>
              <a:xfrm>
                <a:off x="1188545" y="6278774"/>
                <a:ext cx="1361118"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PPN-2</a:t>
                </a:r>
              </a:p>
            </p:txBody>
          </p:sp>
          <p:sp>
            <p:nvSpPr>
              <p:cNvPr id="77" name="TextBox 76">
                <a:extLst>
                  <a:ext uri="{FF2B5EF4-FFF2-40B4-BE49-F238E27FC236}">
                    <a16:creationId xmlns:a16="http://schemas.microsoft.com/office/drawing/2014/main" id="{4170CEF0-6285-A410-7EE9-B6FFF2BBC95E}"/>
                  </a:ext>
                </a:extLst>
              </p:cNvPr>
              <p:cNvSpPr txBox="1"/>
              <p:nvPr/>
            </p:nvSpPr>
            <p:spPr>
              <a:xfrm>
                <a:off x="2408647" y="6278774"/>
                <a:ext cx="1361118"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PPN-3</a:t>
                </a:r>
              </a:p>
            </p:txBody>
          </p:sp>
          <p:sp>
            <p:nvSpPr>
              <p:cNvPr id="78" name="TextBox 77">
                <a:extLst>
                  <a:ext uri="{FF2B5EF4-FFF2-40B4-BE49-F238E27FC236}">
                    <a16:creationId xmlns:a16="http://schemas.microsoft.com/office/drawing/2014/main" id="{E6E8445B-2F84-ED62-1789-D954415D441F}"/>
                  </a:ext>
                </a:extLst>
              </p:cNvPr>
              <p:cNvSpPr txBox="1"/>
              <p:nvPr/>
            </p:nvSpPr>
            <p:spPr>
              <a:xfrm>
                <a:off x="3628749" y="6278774"/>
                <a:ext cx="1361118"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PPN-4</a:t>
                </a:r>
              </a:p>
            </p:txBody>
          </p:sp>
        </p:grpSp>
      </p:grpSp>
      <p:sp>
        <p:nvSpPr>
          <p:cNvPr id="79" name="TextBox 78">
            <a:extLst>
              <a:ext uri="{FF2B5EF4-FFF2-40B4-BE49-F238E27FC236}">
                <a16:creationId xmlns:a16="http://schemas.microsoft.com/office/drawing/2014/main" id="{B429A5ED-BCC4-3C11-38CB-C3A60F3E078D}"/>
              </a:ext>
            </a:extLst>
          </p:cNvPr>
          <p:cNvSpPr txBox="1"/>
          <p:nvPr/>
        </p:nvSpPr>
        <p:spPr>
          <a:xfrm>
            <a:off x="132926" y="1196435"/>
            <a:ext cx="4856941" cy="523220"/>
          </a:xfrm>
          <a:prstGeom prst="rect">
            <a:avLst/>
          </a:prstGeom>
          <a:solidFill>
            <a:srgbClr val="660066"/>
          </a:solidFill>
        </p:spPr>
        <p:txBody>
          <a:bodyPr wrap="square" rtlCol="0">
            <a:spAutoFit/>
          </a:bodyPr>
          <a:lstStyle/>
          <a:p>
            <a:pPr algn="ctr"/>
            <a:r>
              <a:rPr lang="en-US" sz="2800" b="1" dirty="0">
                <a:solidFill>
                  <a:schemeClr val="bg1"/>
                </a:solidFill>
              </a:rPr>
              <a:t>Hierarchy</a:t>
            </a:r>
            <a:endParaRPr lang="en-GH" sz="2800" b="1" dirty="0">
              <a:solidFill>
                <a:schemeClr val="bg1"/>
              </a:solidFill>
            </a:endParaRPr>
          </a:p>
        </p:txBody>
      </p:sp>
    </p:spTree>
    <p:extLst>
      <p:ext uri="{BB962C8B-B14F-4D97-AF65-F5344CB8AC3E}">
        <p14:creationId xmlns:p14="http://schemas.microsoft.com/office/powerpoint/2010/main" val="454934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020C4D-6D99-4351-72BB-654EBE2F8D6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9846B18-82E1-6C28-4416-486FD2A44889}"/>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3" name="Title 1">
            <a:extLst>
              <a:ext uri="{FF2B5EF4-FFF2-40B4-BE49-F238E27FC236}">
                <a16:creationId xmlns:a16="http://schemas.microsoft.com/office/drawing/2014/main" id="{926E32E8-6217-C239-F819-524DA504A521}"/>
              </a:ext>
            </a:extLst>
          </p:cNvPr>
          <p:cNvSpPr txBox="1">
            <a:spLocks/>
          </p:cNvSpPr>
          <p:nvPr/>
        </p:nvSpPr>
        <p:spPr>
          <a:xfrm>
            <a:off x="847343" y="-120034"/>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Leadership Structure for each PPN</a:t>
            </a:r>
            <a:endParaRPr lang="en-GH" dirty="0">
              <a:solidFill>
                <a:srgbClr val="660066"/>
              </a:solidFill>
              <a:cs typeface="Times New Roman" panose="02020603050405020304" pitchFamily="18" charset="0"/>
            </a:endParaRPr>
          </a:p>
        </p:txBody>
      </p:sp>
      <p:grpSp>
        <p:nvGrpSpPr>
          <p:cNvPr id="10" name="Group 9">
            <a:extLst>
              <a:ext uri="{FF2B5EF4-FFF2-40B4-BE49-F238E27FC236}">
                <a16:creationId xmlns:a16="http://schemas.microsoft.com/office/drawing/2014/main" id="{F04D662B-9DFA-FC0D-CDD5-FB1C4C4E066E}"/>
              </a:ext>
            </a:extLst>
          </p:cNvPr>
          <p:cNvGrpSpPr/>
          <p:nvPr/>
        </p:nvGrpSpPr>
        <p:grpSpPr>
          <a:xfrm>
            <a:off x="822493" y="2099879"/>
            <a:ext cx="3477805" cy="4793971"/>
            <a:chOff x="490482" y="1505712"/>
            <a:chExt cx="3477805" cy="4793971"/>
          </a:xfrm>
        </p:grpSpPr>
        <p:sp>
          <p:nvSpPr>
            <p:cNvPr id="18" name="TextBox 17">
              <a:extLst>
                <a:ext uri="{FF2B5EF4-FFF2-40B4-BE49-F238E27FC236}">
                  <a16:creationId xmlns:a16="http://schemas.microsoft.com/office/drawing/2014/main" id="{0656A66A-26A1-9A53-A406-D54AEC354D70}"/>
                </a:ext>
              </a:extLst>
            </p:cNvPr>
            <p:cNvSpPr txBox="1"/>
            <p:nvPr/>
          </p:nvSpPr>
          <p:spPr>
            <a:xfrm>
              <a:off x="809065" y="3277141"/>
              <a:ext cx="2580612" cy="338554"/>
            </a:xfrm>
            <a:prstGeom prst="rect">
              <a:avLst/>
            </a:prstGeom>
            <a:noFill/>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Secretary</a:t>
              </a:r>
            </a:p>
          </p:txBody>
        </p:sp>
        <p:grpSp>
          <p:nvGrpSpPr>
            <p:cNvPr id="28" name="Group 27">
              <a:extLst>
                <a:ext uri="{FF2B5EF4-FFF2-40B4-BE49-F238E27FC236}">
                  <a16:creationId xmlns:a16="http://schemas.microsoft.com/office/drawing/2014/main" id="{226132C9-0E7C-47DA-D11E-6ADE3594C435}"/>
                </a:ext>
              </a:extLst>
            </p:cNvPr>
            <p:cNvGrpSpPr/>
            <p:nvPr/>
          </p:nvGrpSpPr>
          <p:grpSpPr>
            <a:xfrm>
              <a:off x="2002930" y="2538712"/>
              <a:ext cx="192882" cy="602755"/>
              <a:chOff x="2295608" y="1570762"/>
              <a:chExt cx="192882" cy="570777"/>
            </a:xfrm>
            <a:solidFill>
              <a:srgbClr val="660066"/>
            </a:solidFill>
          </p:grpSpPr>
          <p:sp>
            <p:nvSpPr>
              <p:cNvPr id="30" name="Oval 38">
                <a:extLst>
                  <a:ext uri="{FF2B5EF4-FFF2-40B4-BE49-F238E27FC236}">
                    <a16:creationId xmlns:a16="http://schemas.microsoft.com/office/drawing/2014/main" id="{97561BD2-F313-6F57-8EB4-9086E12CA3D2}"/>
                  </a:ext>
                </a:extLst>
              </p:cNvPr>
              <p:cNvSpPr>
                <a:spLocks noChangeArrowheads="1"/>
              </p:cNvSpPr>
              <p:nvPr/>
            </p:nvSpPr>
            <p:spPr bwMode="auto">
              <a:xfrm>
                <a:off x="2347895" y="1570762"/>
                <a:ext cx="82551" cy="9127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31" name="Freeform 39">
                <a:extLst>
                  <a:ext uri="{FF2B5EF4-FFF2-40B4-BE49-F238E27FC236}">
                    <a16:creationId xmlns:a16="http://schemas.microsoft.com/office/drawing/2014/main" id="{C105A845-3AC5-E5B6-5260-0F9A573A7790}"/>
                  </a:ext>
                </a:extLst>
              </p:cNvPr>
              <p:cNvSpPr>
                <a:spLocks/>
              </p:cNvSpPr>
              <p:nvPr/>
            </p:nvSpPr>
            <p:spPr bwMode="auto">
              <a:xfrm>
                <a:off x="2295608" y="1701007"/>
                <a:ext cx="192882" cy="440532"/>
              </a:xfrm>
              <a:custGeom>
                <a:avLst/>
                <a:gdLst>
                  <a:gd name="T0" fmla="*/ 17 w 21"/>
                  <a:gd name="T1" fmla="*/ 0 h 48"/>
                  <a:gd name="T2" fmla="*/ 4 w 21"/>
                  <a:gd name="T3" fmla="*/ 0 h 48"/>
                  <a:gd name="T4" fmla="*/ 0 w 21"/>
                  <a:gd name="T5" fmla="*/ 4 h 48"/>
                  <a:gd name="T6" fmla="*/ 0 w 21"/>
                  <a:gd name="T7" fmla="*/ 20 h 48"/>
                  <a:gd name="T8" fmla="*/ 2 w 21"/>
                  <a:gd name="T9" fmla="*/ 22 h 48"/>
                  <a:gd name="T10" fmla="*/ 4 w 21"/>
                  <a:gd name="T11" fmla="*/ 20 h 48"/>
                  <a:gd name="T12" fmla="*/ 4 w 21"/>
                  <a:gd name="T13" fmla="*/ 5 h 48"/>
                  <a:gd name="T14" fmla="*/ 4 w 21"/>
                  <a:gd name="T15" fmla="*/ 5 h 48"/>
                  <a:gd name="T16" fmla="*/ 4 w 21"/>
                  <a:gd name="T17" fmla="*/ 45 h 48"/>
                  <a:gd name="T18" fmla="*/ 7 w 21"/>
                  <a:gd name="T19" fmla="*/ 48 h 48"/>
                  <a:gd name="T20" fmla="*/ 10 w 21"/>
                  <a:gd name="T21" fmla="*/ 45 h 48"/>
                  <a:gd name="T22" fmla="*/ 10 w 21"/>
                  <a:gd name="T23" fmla="*/ 23 h 48"/>
                  <a:gd name="T24" fmla="*/ 11 w 21"/>
                  <a:gd name="T25" fmla="*/ 23 h 48"/>
                  <a:gd name="T26" fmla="*/ 11 w 21"/>
                  <a:gd name="T27" fmla="*/ 45 h 48"/>
                  <a:gd name="T28" fmla="*/ 14 w 21"/>
                  <a:gd name="T29" fmla="*/ 48 h 48"/>
                  <a:gd name="T30" fmla="*/ 16 w 21"/>
                  <a:gd name="T31" fmla="*/ 45 h 48"/>
                  <a:gd name="T32" fmla="*/ 16 w 21"/>
                  <a:gd name="T33" fmla="*/ 5 h 48"/>
                  <a:gd name="T34" fmla="*/ 17 w 21"/>
                  <a:gd name="T35" fmla="*/ 5 h 48"/>
                  <a:gd name="T36" fmla="*/ 17 w 21"/>
                  <a:gd name="T37" fmla="*/ 20 h 48"/>
                  <a:gd name="T38" fmla="*/ 19 w 21"/>
                  <a:gd name="T39" fmla="*/ 22 h 48"/>
                  <a:gd name="T40" fmla="*/ 21 w 21"/>
                  <a:gd name="T41" fmla="*/ 20 h 48"/>
                  <a:gd name="T42" fmla="*/ 21 w 21"/>
                  <a:gd name="T43" fmla="*/ 4 h 48"/>
                  <a:gd name="T44" fmla="*/ 17 w 21"/>
                  <a:gd name="T4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17" y="0"/>
                    </a:moveTo>
                    <a:cubicBezTo>
                      <a:pt x="4" y="0"/>
                      <a:pt x="4" y="0"/>
                      <a:pt x="4"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4" y="5"/>
                      <a:pt x="4" y="5"/>
                      <a:pt x="4" y="5"/>
                    </a:cubicBezTo>
                    <a:cubicBezTo>
                      <a:pt x="4" y="45"/>
                      <a:pt x="4" y="45"/>
                      <a:pt x="4" y="45"/>
                    </a:cubicBezTo>
                    <a:cubicBezTo>
                      <a:pt x="4" y="47"/>
                      <a:pt x="6" y="48"/>
                      <a:pt x="7" y="48"/>
                    </a:cubicBezTo>
                    <a:cubicBezTo>
                      <a:pt x="8" y="48"/>
                      <a:pt x="10" y="47"/>
                      <a:pt x="10" y="45"/>
                    </a:cubicBezTo>
                    <a:cubicBezTo>
                      <a:pt x="10" y="23"/>
                      <a:pt x="10" y="23"/>
                      <a:pt x="10" y="23"/>
                    </a:cubicBezTo>
                    <a:cubicBezTo>
                      <a:pt x="11" y="23"/>
                      <a:pt x="11" y="23"/>
                      <a:pt x="11" y="23"/>
                    </a:cubicBezTo>
                    <a:cubicBezTo>
                      <a:pt x="11" y="45"/>
                      <a:pt x="11" y="45"/>
                      <a:pt x="11" y="45"/>
                    </a:cubicBezTo>
                    <a:cubicBezTo>
                      <a:pt x="11" y="47"/>
                      <a:pt x="12" y="48"/>
                      <a:pt x="14" y="48"/>
                    </a:cubicBezTo>
                    <a:cubicBezTo>
                      <a:pt x="15" y="48"/>
                      <a:pt x="16" y="47"/>
                      <a:pt x="16" y="45"/>
                    </a:cubicBezTo>
                    <a:cubicBezTo>
                      <a:pt x="16" y="5"/>
                      <a:pt x="16" y="5"/>
                      <a:pt x="16" y="5"/>
                    </a:cubicBezTo>
                    <a:cubicBezTo>
                      <a:pt x="17" y="5"/>
                      <a:pt x="17" y="5"/>
                      <a:pt x="17" y="5"/>
                    </a:cubicBezTo>
                    <a:cubicBezTo>
                      <a:pt x="17" y="20"/>
                      <a:pt x="17" y="20"/>
                      <a:pt x="17" y="20"/>
                    </a:cubicBezTo>
                    <a:cubicBezTo>
                      <a:pt x="17" y="21"/>
                      <a:pt x="18" y="22"/>
                      <a:pt x="19" y="22"/>
                    </a:cubicBezTo>
                    <a:cubicBezTo>
                      <a:pt x="20" y="22"/>
                      <a:pt x="21" y="21"/>
                      <a:pt x="21" y="20"/>
                    </a:cubicBezTo>
                    <a:cubicBezTo>
                      <a:pt x="21" y="4"/>
                      <a:pt x="21" y="4"/>
                      <a:pt x="21" y="4"/>
                    </a:cubicBezTo>
                    <a:cubicBezTo>
                      <a:pt x="21" y="2"/>
                      <a:pt x="19"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sp>
          <p:nvSpPr>
            <p:cNvPr id="29" name="TextBox 28">
              <a:extLst>
                <a:ext uri="{FF2B5EF4-FFF2-40B4-BE49-F238E27FC236}">
                  <a16:creationId xmlns:a16="http://schemas.microsoft.com/office/drawing/2014/main" id="{E1CA4ADD-273D-B1E2-8533-F4721FBA01B2}"/>
                </a:ext>
              </a:extLst>
            </p:cNvPr>
            <p:cNvSpPr txBox="1"/>
            <p:nvPr/>
          </p:nvSpPr>
          <p:spPr>
            <a:xfrm>
              <a:off x="1062870" y="4472479"/>
              <a:ext cx="2226590" cy="338554"/>
            </a:xfrm>
            <a:prstGeom prst="rect">
              <a:avLst/>
            </a:prstGeom>
            <a:noFill/>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Principal Member</a:t>
              </a:r>
            </a:p>
          </p:txBody>
        </p:sp>
        <p:grpSp>
          <p:nvGrpSpPr>
            <p:cNvPr id="21" name="กลุ่ม 140">
              <a:extLst>
                <a:ext uri="{FF2B5EF4-FFF2-40B4-BE49-F238E27FC236}">
                  <a16:creationId xmlns:a16="http://schemas.microsoft.com/office/drawing/2014/main" id="{8254C745-3CC0-C415-7353-F97DBD8C6361}"/>
                </a:ext>
              </a:extLst>
            </p:cNvPr>
            <p:cNvGrpSpPr/>
            <p:nvPr/>
          </p:nvGrpSpPr>
          <p:grpSpPr>
            <a:xfrm>
              <a:off x="2018625" y="1505712"/>
              <a:ext cx="192882" cy="526359"/>
              <a:chOff x="5828789" y="5398920"/>
              <a:chExt cx="385763" cy="973262"/>
            </a:xfrm>
            <a:solidFill>
              <a:srgbClr val="660066"/>
            </a:solidFill>
          </p:grpSpPr>
          <p:sp>
            <p:nvSpPr>
              <p:cNvPr id="25" name="Freeform 44">
                <a:extLst>
                  <a:ext uri="{FF2B5EF4-FFF2-40B4-BE49-F238E27FC236}">
                    <a16:creationId xmlns:a16="http://schemas.microsoft.com/office/drawing/2014/main" id="{09F0430B-A0B9-930F-C2AF-B123DE4BEA41}"/>
                  </a:ext>
                </a:extLst>
              </p:cNvPr>
              <p:cNvSpPr>
                <a:spLocks/>
              </p:cNvSpPr>
              <p:nvPr/>
            </p:nvSpPr>
            <p:spPr bwMode="auto">
              <a:xfrm>
                <a:off x="5828789" y="5600534"/>
                <a:ext cx="385763" cy="771648"/>
              </a:xfrm>
              <a:custGeom>
                <a:avLst/>
                <a:gdLst>
                  <a:gd name="T0" fmla="*/ 21 w 21"/>
                  <a:gd name="T1" fmla="*/ 4 h 48"/>
                  <a:gd name="T2" fmla="*/ 17 w 21"/>
                  <a:gd name="T3" fmla="*/ 0 h 48"/>
                  <a:gd name="T4" fmla="*/ 5 w 21"/>
                  <a:gd name="T5" fmla="*/ 0 h 48"/>
                  <a:gd name="T6" fmla="*/ 0 w 21"/>
                  <a:gd name="T7" fmla="*/ 4 h 48"/>
                  <a:gd name="T8" fmla="*/ 0 w 21"/>
                  <a:gd name="T9" fmla="*/ 20 h 48"/>
                  <a:gd name="T10" fmla="*/ 2 w 21"/>
                  <a:gd name="T11" fmla="*/ 22 h 48"/>
                  <a:gd name="T12" fmla="*/ 4 w 21"/>
                  <a:gd name="T13" fmla="*/ 20 h 48"/>
                  <a:gd name="T14" fmla="*/ 4 w 21"/>
                  <a:gd name="T15" fmla="*/ 5 h 48"/>
                  <a:gd name="T16" fmla="*/ 5 w 21"/>
                  <a:gd name="T17" fmla="*/ 5 h 48"/>
                  <a:gd name="T18" fmla="*/ 5 w 21"/>
                  <a:gd name="T19" fmla="*/ 45 h 48"/>
                  <a:gd name="T20" fmla="*/ 7 w 21"/>
                  <a:gd name="T21" fmla="*/ 48 h 48"/>
                  <a:gd name="T22" fmla="*/ 10 w 21"/>
                  <a:gd name="T23" fmla="*/ 45 h 48"/>
                  <a:gd name="T24" fmla="*/ 10 w 21"/>
                  <a:gd name="T25" fmla="*/ 23 h 48"/>
                  <a:gd name="T26" fmla="*/ 12 w 21"/>
                  <a:gd name="T27" fmla="*/ 23 h 48"/>
                  <a:gd name="T28" fmla="*/ 12 w 21"/>
                  <a:gd name="T29" fmla="*/ 45 h 48"/>
                  <a:gd name="T30" fmla="*/ 14 w 21"/>
                  <a:gd name="T31" fmla="*/ 48 h 48"/>
                  <a:gd name="T32" fmla="*/ 17 w 21"/>
                  <a:gd name="T33" fmla="*/ 45 h 48"/>
                  <a:gd name="T34" fmla="*/ 17 w 21"/>
                  <a:gd name="T35" fmla="*/ 5 h 48"/>
                  <a:gd name="T36" fmla="*/ 18 w 21"/>
                  <a:gd name="T37" fmla="*/ 5 h 48"/>
                  <a:gd name="T38" fmla="*/ 18 w 21"/>
                  <a:gd name="T39" fmla="*/ 20 h 48"/>
                  <a:gd name="T40" fmla="*/ 19 w 21"/>
                  <a:gd name="T41" fmla="*/ 22 h 48"/>
                  <a:gd name="T42" fmla="*/ 21 w 21"/>
                  <a:gd name="T43" fmla="*/ 20 h 48"/>
                  <a:gd name="T44" fmla="*/ 21 w 21"/>
                  <a:gd name="T4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21" y="4"/>
                    </a:moveTo>
                    <a:cubicBezTo>
                      <a:pt x="21" y="2"/>
                      <a:pt x="19" y="0"/>
                      <a:pt x="17" y="0"/>
                    </a:cubicBezTo>
                    <a:cubicBezTo>
                      <a:pt x="5" y="0"/>
                      <a:pt x="5" y="0"/>
                      <a:pt x="5"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5" y="5"/>
                      <a:pt x="5" y="5"/>
                      <a:pt x="5" y="5"/>
                    </a:cubicBezTo>
                    <a:cubicBezTo>
                      <a:pt x="5" y="45"/>
                      <a:pt x="5" y="45"/>
                      <a:pt x="5" y="45"/>
                    </a:cubicBezTo>
                    <a:cubicBezTo>
                      <a:pt x="5" y="47"/>
                      <a:pt x="6" y="48"/>
                      <a:pt x="7" y="48"/>
                    </a:cubicBezTo>
                    <a:cubicBezTo>
                      <a:pt x="9" y="48"/>
                      <a:pt x="10" y="47"/>
                      <a:pt x="10" y="45"/>
                    </a:cubicBezTo>
                    <a:cubicBezTo>
                      <a:pt x="10" y="23"/>
                      <a:pt x="10" y="23"/>
                      <a:pt x="10" y="23"/>
                    </a:cubicBezTo>
                    <a:cubicBezTo>
                      <a:pt x="12" y="23"/>
                      <a:pt x="12" y="23"/>
                      <a:pt x="12" y="23"/>
                    </a:cubicBezTo>
                    <a:cubicBezTo>
                      <a:pt x="12" y="45"/>
                      <a:pt x="12" y="45"/>
                      <a:pt x="12" y="45"/>
                    </a:cubicBezTo>
                    <a:cubicBezTo>
                      <a:pt x="12" y="47"/>
                      <a:pt x="13" y="48"/>
                      <a:pt x="14" y="48"/>
                    </a:cubicBezTo>
                    <a:cubicBezTo>
                      <a:pt x="16" y="48"/>
                      <a:pt x="17" y="47"/>
                      <a:pt x="17" y="45"/>
                    </a:cubicBezTo>
                    <a:cubicBezTo>
                      <a:pt x="17" y="5"/>
                      <a:pt x="17" y="5"/>
                      <a:pt x="17" y="5"/>
                    </a:cubicBezTo>
                    <a:cubicBezTo>
                      <a:pt x="18" y="5"/>
                      <a:pt x="18" y="5"/>
                      <a:pt x="18" y="5"/>
                    </a:cubicBezTo>
                    <a:cubicBezTo>
                      <a:pt x="18" y="20"/>
                      <a:pt x="18" y="20"/>
                      <a:pt x="18" y="20"/>
                    </a:cubicBezTo>
                    <a:cubicBezTo>
                      <a:pt x="18" y="21"/>
                      <a:pt x="18" y="22"/>
                      <a:pt x="19" y="22"/>
                    </a:cubicBezTo>
                    <a:cubicBezTo>
                      <a:pt x="20" y="22"/>
                      <a:pt x="21" y="21"/>
                      <a:pt x="21" y="20"/>
                    </a:cubicBezTo>
                    <a:lnTo>
                      <a:pt x="21"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ea typeface="+mn-ea"/>
                  <a:cs typeface="+mn-cs"/>
                </a:endParaRPr>
              </a:p>
            </p:txBody>
          </p:sp>
          <p:sp>
            <p:nvSpPr>
              <p:cNvPr id="26" name="Oval 45">
                <a:extLst>
                  <a:ext uri="{FF2B5EF4-FFF2-40B4-BE49-F238E27FC236}">
                    <a16:creationId xmlns:a16="http://schemas.microsoft.com/office/drawing/2014/main" id="{1BE80D4A-E4E8-2E73-B63B-15A94FBAE7D1}"/>
                  </a:ext>
                </a:extLst>
              </p:cNvPr>
              <p:cNvSpPr>
                <a:spLocks noChangeArrowheads="1"/>
              </p:cNvSpPr>
              <p:nvPr/>
            </p:nvSpPr>
            <p:spPr bwMode="auto">
              <a:xfrm>
                <a:off x="5938327" y="5398920"/>
                <a:ext cx="165100" cy="165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ea typeface="+mn-ea"/>
                  <a:cs typeface="+mn-cs"/>
                </a:endParaRPr>
              </a:p>
            </p:txBody>
          </p:sp>
        </p:grpSp>
        <p:sp>
          <p:nvSpPr>
            <p:cNvPr id="22" name="TextBox 21">
              <a:extLst>
                <a:ext uri="{FF2B5EF4-FFF2-40B4-BE49-F238E27FC236}">
                  <a16:creationId xmlns:a16="http://schemas.microsoft.com/office/drawing/2014/main" id="{48E3C257-1C06-0472-B71A-CF1D2A3581E3}"/>
                </a:ext>
              </a:extLst>
            </p:cNvPr>
            <p:cNvSpPr txBox="1"/>
            <p:nvPr/>
          </p:nvSpPr>
          <p:spPr>
            <a:xfrm>
              <a:off x="490482" y="2004221"/>
              <a:ext cx="3477805" cy="338554"/>
            </a:xfrm>
            <a:prstGeom prst="rect">
              <a:avLst/>
            </a:prstGeom>
            <a:noFill/>
            <a:extLst>
              <a:ext uri="{91240B29-F687-4F45-9708-019B960494DF}">
                <a14:hiddenLine xmlns:a14="http://schemas.microsoft.com/office/drawing/2010/main" w="9525">
                  <a:solidFill>
                    <a:srgbClr val="000000"/>
                  </a:solidFill>
                  <a:round/>
                  <a:headEnd/>
                  <a:tailEnd/>
                </a14:hiddenLine>
              </a:ext>
            </a:extLst>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cs typeface="Times New Roman" panose="02020603050405020304" pitchFamily="18" charset="0"/>
                </a:rPr>
                <a:t>Professional Network Coordinator</a:t>
              </a:r>
            </a:p>
          </p:txBody>
        </p:sp>
        <p:cxnSp>
          <p:nvCxnSpPr>
            <p:cNvPr id="38" name="Straight Arrow Connector 37">
              <a:extLst>
                <a:ext uri="{FF2B5EF4-FFF2-40B4-BE49-F238E27FC236}">
                  <a16:creationId xmlns:a16="http://schemas.microsoft.com/office/drawing/2014/main" id="{716861DE-7A65-3195-CE13-DD3417F8DB98}"/>
                </a:ext>
              </a:extLst>
            </p:cNvPr>
            <p:cNvCxnSpPr/>
            <p:nvPr/>
          </p:nvCxnSpPr>
          <p:spPr>
            <a:xfrm>
              <a:off x="1625692" y="2635102"/>
              <a:ext cx="0" cy="460292"/>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9BE46E0F-F7F0-C878-1F3A-BAFA1B48C799}"/>
                </a:ext>
              </a:extLst>
            </p:cNvPr>
            <p:cNvCxnSpPr/>
            <p:nvPr/>
          </p:nvCxnSpPr>
          <p:spPr>
            <a:xfrm>
              <a:off x="1625692" y="3889846"/>
              <a:ext cx="0" cy="460292"/>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963BDCA9-C8FE-38E9-3027-84FFB06DF50D}"/>
                </a:ext>
              </a:extLst>
            </p:cNvPr>
            <p:cNvGrpSpPr/>
            <p:nvPr/>
          </p:nvGrpSpPr>
          <p:grpSpPr>
            <a:xfrm>
              <a:off x="2041327" y="3744680"/>
              <a:ext cx="192882" cy="602755"/>
              <a:chOff x="2295608" y="1570762"/>
              <a:chExt cx="192882" cy="570777"/>
            </a:xfrm>
            <a:solidFill>
              <a:srgbClr val="660066"/>
            </a:solidFill>
          </p:grpSpPr>
          <p:sp>
            <p:nvSpPr>
              <p:cNvPr id="7" name="Oval 38">
                <a:extLst>
                  <a:ext uri="{FF2B5EF4-FFF2-40B4-BE49-F238E27FC236}">
                    <a16:creationId xmlns:a16="http://schemas.microsoft.com/office/drawing/2014/main" id="{2FDC2FDD-4472-757C-672E-CF6871B3DDEE}"/>
                  </a:ext>
                </a:extLst>
              </p:cNvPr>
              <p:cNvSpPr>
                <a:spLocks noChangeArrowheads="1"/>
              </p:cNvSpPr>
              <p:nvPr/>
            </p:nvSpPr>
            <p:spPr bwMode="auto">
              <a:xfrm>
                <a:off x="2347895" y="1570762"/>
                <a:ext cx="82551" cy="9127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sp>
            <p:nvSpPr>
              <p:cNvPr id="9" name="Freeform 39">
                <a:extLst>
                  <a:ext uri="{FF2B5EF4-FFF2-40B4-BE49-F238E27FC236}">
                    <a16:creationId xmlns:a16="http://schemas.microsoft.com/office/drawing/2014/main" id="{5D2F07B4-12E6-5219-245A-42C0F041A50D}"/>
                  </a:ext>
                </a:extLst>
              </p:cNvPr>
              <p:cNvSpPr>
                <a:spLocks/>
              </p:cNvSpPr>
              <p:nvPr/>
            </p:nvSpPr>
            <p:spPr bwMode="auto">
              <a:xfrm>
                <a:off x="2295608" y="1701007"/>
                <a:ext cx="192882" cy="440532"/>
              </a:xfrm>
              <a:custGeom>
                <a:avLst/>
                <a:gdLst>
                  <a:gd name="T0" fmla="*/ 17 w 21"/>
                  <a:gd name="T1" fmla="*/ 0 h 48"/>
                  <a:gd name="T2" fmla="*/ 4 w 21"/>
                  <a:gd name="T3" fmla="*/ 0 h 48"/>
                  <a:gd name="T4" fmla="*/ 0 w 21"/>
                  <a:gd name="T5" fmla="*/ 4 h 48"/>
                  <a:gd name="T6" fmla="*/ 0 w 21"/>
                  <a:gd name="T7" fmla="*/ 20 h 48"/>
                  <a:gd name="T8" fmla="*/ 2 w 21"/>
                  <a:gd name="T9" fmla="*/ 22 h 48"/>
                  <a:gd name="T10" fmla="*/ 4 w 21"/>
                  <a:gd name="T11" fmla="*/ 20 h 48"/>
                  <a:gd name="T12" fmla="*/ 4 w 21"/>
                  <a:gd name="T13" fmla="*/ 5 h 48"/>
                  <a:gd name="T14" fmla="*/ 4 w 21"/>
                  <a:gd name="T15" fmla="*/ 5 h 48"/>
                  <a:gd name="T16" fmla="*/ 4 w 21"/>
                  <a:gd name="T17" fmla="*/ 45 h 48"/>
                  <a:gd name="T18" fmla="*/ 7 w 21"/>
                  <a:gd name="T19" fmla="*/ 48 h 48"/>
                  <a:gd name="T20" fmla="*/ 10 w 21"/>
                  <a:gd name="T21" fmla="*/ 45 h 48"/>
                  <a:gd name="T22" fmla="*/ 10 w 21"/>
                  <a:gd name="T23" fmla="*/ 23 h 48"/>
                  <a:gd name="T24" fmla="*/ 11 w 21"/>
                  <a:gd name="T25" fmla="*/ 23 h 48"/>
                  <a:gd name="T26" fmla="*/ 11 w 21"/>
                  <a:gd name="T27" fmla="*/ 45 h 48"/>
                  <a:gd name="T28" fmla="*/ 14 w 21"/>
                  <a:gd name="T29" fmla="*/ 48 h 48"/>
                  <a:gd name="T30" fmla="*/ 16 w 21"/>
                  <a:gd name="T31" fmla="*/ 45 h 48"/>
                  <a:gd name="T32" fmla="*/ 16 w 21"/>
                  <a:gd name="T33" fmla="*/ 5 h 48"/>
                  <a:gd name="T34" fmla="*/ 17 w 21"/>
                  <a:gd name="T35" fmla="*/ 5 h 48"/>
                  <a:gd name="T36" fmla="*/ 17 w 21"/>
                  <a:gd name="T37" fmla="*/ 20 h 48"/>
                  <a:gd name="T38" fmla="*/ 19 w 21"/>
                  <a:gd name="T39" fmla="*/ 22 h 48"/>
                  <a:gd name="T40" fmla="*/ 21 w 21"/>
                  <a:gd name="T41" fmla="*/ 20 h 48"/>
                  <a:gd name="T42" fmla="*/ 21 w 21"/>
                  <a:gd name="T43" fmla="*/ 4 h 48"/>
                  <a:gd name="T44" fmla="*/ 17 w 21"/>
                  <a:gd name="T4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48">
                    <a:moveTo>
                      <a:pt x="17" y="0"/>
                    </a:moveTo>
                    <a:cubicBezTo>
                      <a:pt x="4" y="0"/>
                      <a:pt x="4" y="0"/>
                      <a:pt x="4" y="0"/>
                    </a:cubicBezTo>
                    <a:cubicBezTo>
                      <a:pt x="2" y="0"/>
                      <a:pt x="0" y="2"/>
                      <a:pt x="0" y="4"/>
                    </a:cubicBezTo>
                    <a:cubicBezTo>
                      <a:pt x="0" y="20"/>
                      <a:pt x="0" y="20"/>
                      <a:pt x="0" y="20"/>
                    </a:cubicBezTo>
                    <a:cubicBezTo>
                      <a:pt x="0" y="21"/>
                      <a:pt x="1" y="22"/>
                      <a:pt x="2" y="22"/>
                    </a:cubicBezTo>
                    <a:cubicBezTo>
                      <a:pt x="3" y="22"/>
                      <a:pt x="4" y="21"/>
                      <a:pt x="4" y="20"/>
                    </a:cubicBezTo>
                    <a:cubicBezTo>
                      <a:pt x="4" y="5"/>
                      <a:pt x="4" y="5"/>
                      <a:pt x="4" y="5"/>
                    </a:cubicBezTo>
                    <a:cubicBezTo>
                      <a:pt x="4" y="5"/>
                      <a:pt x="4" y="5"/>
                      <a:pt x="4" y="5"/>
                    </a:cubicBezTo>
                    <a:cubicBezTo>
                      <a:pt x="4" y="45"/>
                      <a:pt x="4" y="45"/>
                      <a:pt x="4" y="45"/>
                    </a:cubicBezTo>
                    <a:cubicBezTo>
                      <a:pt x="4" y="47"/>
                      <a:pt x="6" y="48"/>
                      <a:pt x="7" y="48"/>
                    </a:cubicBezTo>
                    <a:cubicBezTo>
                      <a:pt x="8" y="48"/>
                      <a:pt x="10" y="47"/>
                      <a:pt x="10" y="45"/>
                    </a:cubicBezTo>
                    <a:cubicBezTo>
                      <a:pt x="10" y="23"/>
                      <a:pt x="10" y="23"/>
                      <a:pt x="10" y="23"/>
                    </a:cubicBezTo>
                    <a:cubicBezTo>
                      <a:pt x="11" y="23"/>
                      <a:pt x="11" y="23"/>
                      <a:pt x="11" y="23"/>
                    </a:cubicBezTo>
                    <a:cubicBezTo>
                      <a:pt x="11" y="45"/>
                      <a:pt x="11" y="45"/>
                      <a:pt x="11" y="45"/>
                    </a:cubicBezTo>
                    <a:cubicBezTo>
                      <a:pt x="11" y="47"/>
                      <a:pt x="12" y="48"/>
                      <a:pt x="14" y="48"/>
                    </a:cubicBezTo>
                    <a:cubicBezTo>
                      <a:pt x="15" y="48"/>
                      <a:pt x="16" y="47"/>
                      <a:pt x="16" y="45"/>
                    </a:cubicBezTo>
                    <a:cubicBezTo>
                      <a:pt x="16" y="5"/>
                      <a:pt x="16" y="5"/>
                      <a:pt x="16" y="5"/>
                    </a:cubicBezTo>
                    <a:cubicBezTo>
                      <a:pt x="17" y="5"/>
                      <a:pt x="17" y="5"/>
                      <a:pt x="17" y="5"/>
                    </a:cubicBezTo>
                    <a:cubicBezTo>
                      <a:pt x="17" y="20"/>
                      <a:pt x="17" y="20"/>
                      <a:pt x="17" y="20"/>
                    </a:cubicBezTo>
                    <a:cubicBezTo>
                      <a:pt x="17" y="21"/>
                      <a:pt x="18" y="22"/>
                      <a:pt x="19" y="22"/>
                    </a:cubicBezTo>
                    <a:cubicBezTo>
                      <a:pt x="20" y="22"/>
                      <a:pt x="21" y="21"/>
                      <a:pt x="21" y="20"/>
                    </a:cubicBezTo>
                    <a:cubicBezTo>
                      <a:pt x="21" y="4"/>
                      <a:pt x="21" y="4"/>
                      <a:pt x="21" y="4"/>
                    </a:cubicBezTo>
                    <a:cubicBezTo>
                      <a:pt x="21" y="2"/>
                      <a:pt x="19"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h-TH" sz="900" b="0" i="0" u="none" strike="noStrike" kern="1200" cap="none" spc="0" normalizeH="0" baseline="0" noProof="0">
                  <a:ln>
                    <a:noFill/>
                  </a:ln>
                  <a:solidFill>
                    <a:srgbClr val="996633"/>
                  </a:solidFill>
                  <a:effectLst/>
                  <a:uLnTx/>
                  <a:uFillTx/>
                  <a:latin typeface="Calibri Light"/>
                  <a:ea typeface="+mn-ea"/>
                  <a:cs typeface="+mn-cs"/>
                </a:endParaRPr>
              </a:p>
            </p:txBody>
          </p:sp>
        </p:grpSp>
        <p:sp>
          <p:nvSpPr>
            <p:cNvPr id="50" name="TextBox 49">
              <a:extLst>
                <a:ext uri="{FF2B5EF4-FFF2-40B4-BE49-F238E27FC236}">
                  <a16:creationId xmlns:a16="http://schemas.microsoft.com/office/drawing/2014/main" id="{6FA95410-D7F0-5D72-F4A3-C58F0CC73D6F}"/>
                </a:ext>
              </a:extLst>
            </p:cNvPr>
            <p:cNvSpPr txBox="1"/>
            <p:nvPr/>
          </p:nvSpPr>
          <p:spPr>
            <a:xfrm>
              <a:off x="1098212" y="5961129"/>
              <a:ext cx="2226590" cy="338554"/>
            </a:xfrm>
            <a:prstGeom prst="rect">
              <a:avLst/>
            </a:prstGeom>
            <a:noFill/>
          </p:spPr>
          <p:txBody>
            <a:bodyPr wrap="square" rtlCol="0">
              <a:spAutoFit/>
            </a:bodyPr>
            <a:lstStyle>
              <a:defPPr>
                <a:defRPr lang="en-US"/>
              </a:defPPr>
              <a:lvl1pPr algn="ctr">
                <a:defRPr sz="1400" b="1">
                  <a:solidFill>
                    <a:schemeClr val="tx2"/>
                  </a:solidFill>
                </a:defRPr>
              </a:lvl1pPr>
            </a:lstStyle>
            <a:p>
              <a:r>
                <a:rPr lang="en-GB" sz="1600" dirty="0">
                  <a:solidFill>
                    <a:srgbClr val="996633"/>
                  </a:solidFill>
                  <a:latin typeface="+mj-lt"/>
                  <a:cs typeface="Times New Roman" panose="02020603050405020304" pitchFamily="18" charset="0"/>
                </a:rPr>
                <a:t>Members</a:t>
              </a:r>
            </a:p>
          </p:txBody>
        </p:sp>
        <p:cxnSp>
          <p:nvCxnSpPr>
            <p:cNvPr id="51" name="Straight Arrow Connector 50">
              <a:extLst>
                <a:ext uri="{FF2B5EF4-FFF2-40B4-BE49-F238E27FC236}">
                  <a16:creationId xmlns:a16="http://schemas.microsoft.com/office/drawing/2014/main" id="{33020117-F8B8-A664-AE23-014F3A0E1ECE}"/>
                </a:ext>
              </a:extLst>
            </p:cNvPr>
            <p:cNvCxnSpPr/>
            <p:nvPr/>
          </p:nvCxnSpPr>
          <p:spPr>
            <a:xfrm>
              <a:off x="1625692" y="5030537"/>
              <a:ext cx="0" cy="460292"/>
            </a:xfrm>
            <a:prstGeom prst="straightConnector1">
              <a:avLst/>
            </a:prstGeom>
            <a:ln w="38100">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6B583434-78D0-6262-5E65-D68648609366}"/>
              </a:ext>
            </a:extLst>
          </p:cNvPr>
          <p:cNvGrpSpPr/>
          <p:nvPr/>
        </p:nvGrpSpPr>
        <p:grpSpPr>
          <a:xfrm>
            <a:off x="5135954" y="1071419"/>
            <a:ext cx="6651266" cy="5520490"/>
            <a:chOff x="5135954" y="1071419"/>
            <a:chExt cx="6651266" cy="5520490"/>
          </a:xfrm>
        </p:grpSpPr>
        <p:sp>
          <p:nvSpPr>
            <p:cNvPr id="35" name="Content Placeholder 5">
              <a:extLst>
                <a:ext uri="{FF2B5EF4-FFF2-40B4-BE49-F238E27FC236}">
                  <a16:creationId xmlns:a16="http://schemas.microsoft.com/office/drawing/2014/main" id="{91D51A8C-B65B-A1E3-F41E-22CDBEDDB412}"/>
                </a:ext>
              </a:extLst>
            </p:cNvPr>
            <p:cNvSpPr txBox="1">
              <a:spLocks/>
            </p:cNvSpPr>
            <p:nvPr/>
          </p:nvSpPr>
          <p:spPr>
            <a:xfrm>
              <a:off x="5135954" y="1071419"/>
              <a:ext cx="6651266" cy="5520490"/>
            </a:xfrm>
            <a:prstGeom prst="roundRect">
              <a:avLst>
                <a:gd name="adj" fmla="val 17443"/>
              </a:avLst>
            </a:prstGeom>
            <a:solidFill>
              <a:srgbClr val="FFFFFF"/>
            </a:solidFill>
            <a:ln w="28575">
              <a:solidFill>
                <a:srgbClr val="FFC000">
                  <a:lumMod val="75000"/>
                </a:srgbClr>
              </a:solidFill>
            </a:ln>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4900">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defTabSz="914400" eaLnBrk="1" fontAlgn="auto" latinLnBrk="0" hangingPunct="1">
                <a:lnSpc>
                  <a:spcPct val="90000"/>
                </a:lnSpc>
                <a:spcBef>
                  <a:spcPts val="1000"/>
                </a:spcBef>
                <a:spcAft>
                  <a:spcPts val="0"/>
                </a:spcAft>
                <a:buClrTx/>
                <a:buSzTx/>
                <a:buNone/>
                <a:tabLst/>
                <a:defRPr/>
              </a:pPr>
              <a:endParaRPr kumimoji="0" lang="en-GB" sz="4900" b="0" i="0" u="none" strike="noStrike" kern="0" cap="none" spc="0" normalizeH="0" baseline="0" noProof="0" dirty="0">
                <a:ln>
                  <a:noFill/>
                </a:ln>
                <a:solidFill>
                  <a:prstClr val="black"/>
                </a:solidFill>
                <a:effectLst/>
                <a:uLnTx/>
                <a:uFillTx/>
              </a:endParaRPr>
            </a:p>
          </p:txBody>
        </p:sp>
        <p:sp>
          <p:nvSpPr>
            <p:cNvPr id="40" name="TextBox 39">
              <a:extLst>
                <a:ext uri="{FF2B5EF4-FFF2-40B4-BE49-F238E27FC236}">
                  <a16:creationId xmlns:a16="http://schemas.microsoft.com/office/drawing/2014/main" id="{D868446F-3E71-9453-960E-100BAD790FA6}"/>
                </a:ext>
              </a:extLst>
            </p:cNvPr>
            <p:cNvSpPr txBox="1"/>
            <p:nvPr/>
          </p:nvSpPr>
          <p:spPr>
            <a:xfrm>
              <a:off x="5733370" y="1196435"/>
              <a:ext cx="5456434" cy="523220"/>
            </a:xfrm>
            <a:prstGeom prst="rect">
              <a:avLst/>
            </a:prstGeom>
            <a:solidFill>
              <a:srgbClr val="660066"/>
            </a:solidFill>
          </p:spPr>
          <p:txBody>
            <a:bodyPr wrap="square" rtlCol="0">
              <a:spAutoFit/>
            </a:bodyPr>
            <a:lstStyle/>
            <a:p>
              <a:pPr algn="ctr"/>
              <a:r>
                <a:rPr lang="en-US" sz="2800" b="1" dirty="0">
                  <a:solidFill>
                    <a:schemeClr val="bg1"/>
                  </a:solidFill>
                </a:rPr>
                <a:t>Responsibilities</a:t>
              </a:r>
              <a:endParaRPr lang="en-GH" sz="2800" b="1" dirty="0">
                <a:solidFill>
                  <a:schemeClr val="bg1"/>
                </a:solidFill>
              </a:endParaRPr>
            </a:p>
          </p:txBody>
        </p:sp>
      </p:grpSp>
      <p:sp>
        <p:nvSpPr>
          <p:cNvPr id="12" name="TextBox 11">
            <a:extLst>
              <a:ext uri="{FF2B5EF4-FFF2-40B4-BE49-F238E27FC236}">
                <a16:creationId xmlns:a16="http://schemas.microsoft.com/office/drawing/2014/main" id="{271F7311-06C2-3080-735B-9A0B68DAACB9}"/>
              </a:ext>
            </a:extLst>
          </p:cNvPr>
          <p:cNvSpPr txBox="1"/>
          <p:nvPr/>
        </p:nvSpPr>
        <p:spPr>
          <a:xfrm>
            <a:off x="5287814" y="1775722"/>
            <a:ext cx="6439624" cy="4615623"/>
          </a:xfrm>
          <a:prstGeom prst="rect">
            <a:avLst/>
          </a:prstGeom>
          <a:noFill/>
        </p:spPr>
        <p:txBody>
          <a:bodyPr wrap="square" rtlCol="0">
            <a:spAutoFit/>
          </a:bodyPr>
          <a:lstStyle/>
          <a:p>
            <a:pPr lvl="0">
              <a:lnSpc>
                <a:spcPct val="90000"/>
              </a:lnSpc>
              <a:spcBef>
                <a:spcPts val="1000"/>
              </a:spcBef>
              <a:defRPr/>
            </a:pPr>
            <a:r>
              <a:rPr lang="en-US" sz="1700" b="1" kern="0" dirty="0">
                <a:solidFill>
                  <a:prstClr val="black"/>
                </a:solidFill>
                <a:latin typeface="+mj-lt"/>
                <a:cs typeface="Times New Roman" panose="02020603050405020304" pitchFamily="18" charset="0"/>
              </a:rPr>
              <a:t>Professional Coordinator</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Provides overall leadership.</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Represents the group before church leadership.</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Coordinates meetings.</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Plans Professional events.</a:t>
            </a:r>
          </a:p>
          <a:p>
            <a:endParaRPr lang="en-US" sz="1700" b="1" kern="0" dirty="0">
              <a:solidFill>
                <a:prstClr val="black"/>
              </a:solidFill>
              <a:latin typeface="+mj-lt"/>
              <a:cs typeface="Times New Roman" panose="02020603050405020304" pitchFamily="18" charset="0"/>
            </a:endParaRPr>
          </a:p>
          <a:p>
            <a:pPr lvl="0">
              <a:lnSpc>
                <a:spcPct val="90000"/>
              </a:lnSpc>
              <a:spcBef>
                <a:spcPts val="1000"/>
              </a:spcBef>
              <a:defRPr/>
            </a:pPr>
            <a:r>
              <a:rPr lang="en-US" sz="1700" b="1" kern="0" dirty="0">
                <a:solidFill>
                  <a:prstClr val="black"/>
                </a:solidFill>
                <a:latin typeface="+mj-lt"/>
                <a:cs typeface="Times New Roman" panose="02020603050405020304" pitchFamily="18" charset="0"/>
              </a:rPr>
              <a:t>Secretary</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Assists the Professional Coordinator.</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Acts in the Professional Coordinator's absence.</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Plans meetings.</a:t>
            </a:r>
          </a:p>
          <a:p>
            <a:pPr marL="285750" indent="-285750">
              <a:buFont typeface="Arial" panose="020B0604020202020204" pitchFamily="34" charset="0"/>
              <a:buChar char="•"/>
            </a:pPr>
            <a:r>
              <a:rPr lang="en-US" sz="1700" kern="0" dirty="0">
                <a:solidFill>
                  <a:prstClr val="black"/>
                </a:solidFill>
                <a:latin typeface="+mj-lt"/>
                <a:cs typeface="Times New Roman" panose="02020603050405020304" pitchFamily="18" charset="0"/>
              </a:rPr>
              <a:t>Keeps records and minutes.</a:t>
            </a:r>
          </a:p>
          <a:p>
            <a:pPr marL="285750" indent="-285750">
              <a:buFont typeface="Arial" panose="020B0604020202020204" pitchFamily="34" charset="0"/>
              <a:buChar char="•"/>
              <a:defRPr/>
            </a:pPr>
            <a:r>
              <a:rPr lang="en-US" sz="1700" kern="0" dirty="0">
                <a:solidFill>
                  <a:prstClr val="black"/>
                </a:solidFill>
                <a:latin typeface="+mj-lt"/>
                <a:cs typeface="Times New Roman" panose="02020603050405020304" pitchFamily="18" charset="0"/>
              </a:rPr>
              <a:t>Manages communication.</a:t>
            </a:r>
          </a:p>
          <a:p>
            <a:pPr marL="285750" indent="-285750">
              <a:buFont typeface="Arial" panose="020B0604020202020204" pitchFamily="34" charset="0"/>
              <a:buChar char="•"/>
              <a:defRPr/>
            </a:pPr>
            <a:r>
              <a:rPr lang="en-US" sz="1700" kern="0" dirty="0">
                <a:solidFill>
                  <a:prstClr val="black"/>
                </a:solidFill>
                <a:latin typeface="+mj-lt"/>
                <a:cs typeface="Times New Roman" panose="02020603050405020304" pitchFamily="18" charset="0"/>
              </a:rPr>
              <a:t>Maintains membership records.</a:t>
            </a:r>
          </a:p>
          <a:p>
            <a:endParaRPr lang="en-US" sz="1700" b="1" dirty="0">
              <a:latin typeface="+mj-lt"/>
              <a:cs typeface="Times New Roman" panose="02020603050405020304" pitchFamily="18" charset="0"/>
            </a:endParaRPr>
          </a:p>
          <a:p>
            <a:r>
              <a:rPr lang="en-GH" sz="1700" b="1" dirty="0">
                <a:latin typeface="+mj-lt"/>
                <a:cs typeface="Times New Roman" panose="02020603050405020304" pitchFamily="18" charset="0"/>
              </a:rPr>
              <a:t>The Principal Member</a:t>
            </a:r>
          </a:p>
          <a:p>
            <a:pPr marL="285750" lvl="0" indent="-285750">
              <a:buFont typeface="Arial" panose="020B0604020202020204" pitchFamily="34" charset="0"/>
              <a:buChar char="•"/>
            </a:pPr>
            <a:r>
              <a:rPr lang="en-GH" sz="1700" kern="0" dirty="0">
                <a:solidFill>
                  <a:prstClr val="black"/>
                </a:solidFill>
                <a:latin typeface="+mj-lt"/>
                <a:cs typeface="Times New Roman" panose="02020603050405020304" pitchFamily="18" charset="0"/>
              </a:rPr>
              <a:t>Plays the legwork of the group.</a:t>
            </a:r>
          </a:p>
          <a:p>
            <a:pPr marL="285750" lvl="0" indent="-285750">
              <a:buFont typeface="Arial" panose="020B0604020202020204" pitchFamily="34" charset="0"/>
              <a:buChar char="•"/>
            </a:pPr>
            <a:r>
              <a:rPr lang="en-GH" sz="1700" kern="0" dirty="0">
                <a:solidFill>
                  <a:prstClr val="black"/>
                </a:solidFill>
                <a:latin typeface="+mj-lt"/>
                <a:cs typeface="Times New Roman" panose="02020603050405020304" pitchFamily="18" charset="0"/>
              </a:rPr>
              <a:t>Performs logistics, operations and any other task work for the group.</a:t>
            </a:r>
          </a:p>
        </p:txBody>
      </p:sp>
      <p:sp>
        <p:nvSpPr>
          <p:cNvPr id="44" name="TextBox 43">
            <a:extLst>
              <a:ext uri="{FF2B5EF4-FFF2-40B4-BE49-F238E27FC236}">
                <a16:creationId xmlns:a16="http://schemas.microsoft.com/office/drawing/2014/main" id="{CF9D2642-D716-0A8C-94A7-4C6FF248D2F1}"/>
              </a:ext>
            </a:extLst>
          </p:cNvPr>
          <p:cNvSpPr txBox="1"/>
          <p:nvPr/>
        </p:nvSpPr>
        <p:spPr>
          <a:xfrm>
            <a:off x="132926" y="1196435"/>
            <a:ext cx="4856941" cy="523220"/>
          </a:xfrm>
          <a:prstGeom prst="rect">
            <a:avLst/>
          </a:prstGeom>
          <a:solidFill>
            <a:srgbClr val="660066"/>
          </a:solidFill>
        </p:spPr>
        <p:txBody>
          <a:bodyPr wrap="square" rtlCol="0">
            <a:spAutoFit/>
          </a:bodyPr>
          <a:lstStyle/>
          <a:p>
            <a:pPr algn="ctr"/>
            <a:r>
              <a:rPr lang="en-US" sz="2800" b="1" dirty="0">
                <a:solidFill>
                  <a:schemeClr val="bg1"/>
                </a:solidFill>
              </a:rPr>
              <a:t>PPN Internal Hierarchy</a:t>
            </a:r>
            <a:endParaRPr lang="en-GH" sz="2800" b="1" dirty="0">
              <a:solidFill>
                <a:schemeClr val="bg1"/>
              </a:solidFill>
            </a:endParaRPr>
          </a:p>
        </p:txBody>
      </p:sp>
      <p:pic>
        <p:nvPicPr>
          <p:cNvPr id="46" name="Graphic 45" descr="Group of people with solid fill">
            <a:extLst>
              <a:ext uri="{FF2B5EF4-FFF2-40B4-BE49-F238E27FC236}">
                <a16:creationId xmlns:a16="http://schemas.microsoft.com/office/drawing/2014/main" id="{6836E955-46FF-E761-CBD7-B537DAD3FF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56411" y="5423488"/>
            <a:ext cx="1196634" cy="1196634"/>
          </a:xfrm>
          <a:prstGeom prst="rect">
            <a:avLst/>
          </a:prstGeom>
        </p:spPr>
      </p:pic>
    </p:spTree>
    <p:extLst>
      <p:ext uri="{BB962C8B-B14F-4D97-AF65-F5344CB8AC3E}">
        <p14:creationId xmlns:p14="http://schemas.microsoft.com/office/powerpoint/2010/main" val="3176282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402987-7D04-761D-FF53-43AC6933788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6C494F3-1E9E-DA40-688C-6EED72C62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CB3632DD-783F-6F2B-5E33-E34ECA04A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C4A2E44-0AC3-7B81-CA43-41E5FCFE9E79}"/>
              </a:ext>
            </a:extLst>
          </p:cNvPr>
          <p:cNvPicPr>
            <a:picLocks noChangeAspect="1"/>
          </p:cNvPicPr>
          <p:nvPr/>
        </p:nvPicPr>
        <p:blipFill rotWithShape="1">
          <a:blip r:embed="rId2"/>
          <a:srcRect l="7561" t="17350" b="15867"/>
          <a:stretch/>
        </p:blipFill>
        <p:spPr>
          <a:xfrm>
            <a:off x="114291" y="-30650"/>
            <a:ext cx="2168756" cy="783410"/>
          </a:xfrm>
          <a:prstGeom prst="rect">
            <a:avLst/>
          </a:prstGeom>
        </p:spPr>
      </p:pic>
      <p:sp>
        <p:nvSpPr>
          <p:cNvPr id="11" name="Title 10">
            <a:extLst>
              <a:ext uri="{FF2B5EF4-FFF2-40B4-BE49-F238E27FC236}">
                <a16:creationId xmlns:a16="http://schemas.microsoft.com/office/drawing/2014/main" id="{9C596FEC-F443-EAED-6945-7DEBBADA6C59}"/>
              </a:ext>
            </a:extLst>
          </p:cNvPr>
          <p:cNvSpPr>
            <a:spLocks noGrp="1"/>
          </p:cNvSpPr>
          <p:nvPr>
            <p:ph type="title"/>
          </p:nvPr>
        </p:nvSpPr>
        <p:spPr>
          <a:xfrm>
            <a:off x="853877" y="2435703"/>
            <a:ext cx="3108436" cy="1543557"/>
          </a:xfrm>
        </p:spPr>
        <p:txBody>
          <a:bodyPr>
            <a:normAutofit fontScale="90000"/>
          </a:bodyPr>
          <a:lstStyle/>
          <a:p>
            <a:r>
              <a:rPr lang="en-US" b="1" dirty="0">
                <a:cs typeface="Times New Roman" panose="02020603050405020304" pitchFamily="18" charset="0"/>
              </a:rPr>
              <a:t>Palace Professional</a:t>
            </a:r>
            <a:br>
              <a:rPr lang="en-US" b="1" dirty="0">
                <a:cs typeface="Times New Roman" panose="02020603050405020304" pitchFamily="18" charset="0"/>
              </a:rPr>
            </a:br>
            <a:r>
              <a:rPr lang="en-US" b="1" dirty="0">
                <a:cs typeface="Times New Roman" panose="02020603050405020304" pitchFamily="18" charset="0"/>
              </a:rPr>
              <a:t>Network</a:t>
            </a:r>
            <a:endParaRPr lang="en-GH" b="1" dirty="0">
              <a:cs typeface="Times New Roman" panose="02020603050405020304" pitchFamily="18" charset="0"/>
            </a:endParaRPr>
          </a:p>
        </p:txBody>
      </p:sp>
      <p:sp>
        <p:nvSpPr>
          <p:cNvPr id="3" name="TextBox 2">
            <a:extLst>
              <a:ext uri="{FF2B5EF4-FFF2-40B4-BE49-F238E27FC236}">
                <a16:creationId xmlns:a16="http://schemas.microsoft.com/office/drawing/2014/main" id="{45E1992E-9804-AD8D-5B09-3B361E52ED94}"/>
              </a:ext>
            </a:extLst>
          </p:cNvPr>
          <p:cNvSpPr txBox="1"/>
          <p:nvPr/>
        </p:nvSpPr>
        <p:spPr>
          <a:xfrm>
            <a:off x="4167299" y="0"/>
            <a:ext cx="7421106" cy="584775"/>
          </a:xfrm>
          <a:prstGeom prst="rect">
            <a:avLst/>
          </a:prstGeom>
          <a:noFill/>
        </p:spPr>
        <p:txBody>
          <a:bodyPr wrap="square">
            <a:spAutoFit/>
          </a:bodyPr>
          <a:lstStyle/>
          <a:p>
            <a:pPr algn="ctr"/>
            <a:r>
              <a:rPr lang="en-US" sz="3200" b="1" kern="1800" dirty="0">
                <a:effectLst/>
                <a:latin typeface="Times New Roman" panose="02020603050405020304" pitchFamily="18" charset="0"/>
                <a:ea typeface="Times New Roman" panose="02020603050405020304" pitchFamily="18" charset="0"/>
              </a:rPr>
              <a:t>Operational Framework</a:t>
            </a:r>
            <a:endParaRPr lang="en-GH" dirty="0"/>
          </a:p>
        </p:txBody>
      </p:sp>
      <p:sp>
        <p:nvSpPr>
          <p:cNvPr id="17" name="TextBox 16">
            <a:extLst>
              <a:ext uri="{FF2B5EF4-FFF2-40B4-BE49-F238E27FC236}">
                <a16:creationId xmlns:a16="http://schemas.microsoft.com/office/drawing/2014/main" id="{816FE20D-4796-3137-5C69-5AEA4650948B}"/>
              </a:ext>
            </a:extLst>
          </p:cNvPr>
          <p:cNvSpPr txBox="1"/>
          <p:nvPr/>
        </p:nvSpPr>
        <p:spPr>
          <a:xfrm>
            <a:off x="6268550" y="834626"/>
            <a:ext cx="5091065" cy="276999"/>
          </a:xfrm>
          <a:prstGeom prst="rect">
            <a:avLst/>
          </a:prstGeom>
          <a:noFill/>
        </p:spPr>
        <p:txBody>
          <a:bodyPr wrap="square">
            <a:spAutoFit/>
          </a:bodyPr>
          <a:lstStyle/>
          <a:p>
            <a:pPr lvl="0">
              <a:tabLst>
                <a:tab pos="457200" algn="l"/>
              </a:tabLst>
            </a:pPr>
            <a:r>
              <a:rPr lang="en-GH" sz="12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GH" sz="1100" dirty="0">
              <a:effectLst/>
              <a:latin typeface="Arial" panose="020B0604020202020204" pitchFamily="34" charset="0"/>
              <a:ea typeface="Calibri" panose="020F050202020403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0ED087AF-F56A-E63A-43EC-40AD25DC16BA}"/>
              </a:ext>
            </a:extLst>
          </p:cNvPr>
          <p:cNvSpPr/>
          <p:nvPr/>
        </p:nvSpPr>
        <p:spPr>
          <a:xfrm>
            <a:off x="4167299" y="1868602"/>
            <a:ext cx="7823596" cy="4443922"/>
          </a:xfrm>
          <a:prstGeom prst="roundRect">
            <a:avLst/>
          </a:prstGeom>
          <a:solidFill>
            <a:schemeClr val="tx1"/>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buNone/>
            </a:pPr>
            <a:r>
              <a:rPr lang="en-GH" sz="2400" b="1" dirty="0">
                <a:solidFill>
                  <a:schemeClr val="bg1"/>
                </a:solidFill>
                <a:effectLst/>
                <a:ea typeface="Times New Roman" panose="02020603050405020304" pitchFamily="18" charset="0"/>
                <a:cs typeface="Times New Roman" panose="02020603050405020304" pitchFamily="18" charset="0"/>
              </a:rPr>
              <a:t>Membership shall be open to:</a:t>
            </a:r>
            <a:endParaRPr lang="en-US" sz="2400" b="1" dirty="0">
              <a:solidFill>
                <a:schemeClr val="bg1"/>
              </a:solidFill>
              <a:effectLst/>
              <a:ea typeface="Times New Roman" panose="02020603050405020304" pitchFamily="18" charset="0"/>
              <a:cs typeface="Times New Roman" panose="02020603050405020304" pitchFamily="18" charset="0"/>
            </a:endParaRPr>
          </a:p>
          <a:p>
            <a:pPr>
              <a:buNone/>
            </a:pPr>
            <a:endParaRPr lang="en-GH" sz="2400" b="1" dirty="0">
              <a:solidFill>
                <a:schemeClr val="bg1"/>
              </a:solidFill>
              <a:effectLst/>
              <a:ea typeface="Calibri" panose="020F0502020204030204" pitchFamily="34" charset="0"/>
              <a:cs typeface="Times New Roman" panose="02020603050405020304" pitchFamily="18" charset="0"/>
            </a:endParaRPr>
          </a:p>
          <a:p>
            <a:pPr marL="457200" lvl="0" indent="-457200">
              <a:buSzPts val="1000"/>
              <a:buFont typeface="+mj-lt"/>
              <a:buAutoNum type="arabicPeriod"/>
              <a:tabLst>
                <a:tab pos="457200" algn="l"/>
              </a:tabLst>
            </a:pPr>
            <a:r>
              <a:rPr lang="en-GH" sz="2400" dirty="0">
                <a:solidFill>
                  <a:schemeClr val="bg1"/>
                </a:solidFill>
                <a:effectLst/>
                <a:ea typeface="Times New Roman" panose="02020603050405020304" pitchFamily="18" charset="0"/>
                <a:cs typeface="Times New Roman" panose="02020603050405020304" pitchFamily="18" charset="0"/>
              </a:rPr>
              <a:t>Church members.</a:t>
            </a:r>
            <a:endParaRPr lang="en-GH" sz="2400" dirty="0">
              <a:solidFill>
                <a:schemeClr val="bg1"/>
              </a:solidFill>
              <a:effectLst/>
              <a:ea typeface="Calibri" panose="020F0502020204030204" pitchFamily="34" charset="0"/>
              <a:cs typeface="Times New Roman" panose="02020603050405020304" pitchFamily="18" charset="0"/>
            </a:endParaRPr>
          </a:p>
          <a:p>
            <a:pPr marL="457200" lvl="0" indent="-457200">
              <a:buSzPts val="1000"/>
              <a:buFont typeface="+mj-lt"/>
              <a:buAutoNum type="arabicPeriod"/>
              <a:tabLst>
                <a:tab pos="457200" algn="l"/>
              </a:tabLst>
            </a:pPr>
            <a:r>
              <a:rPr lang="en-GH" sz="2400" dirty="0">
                <a:solidFill>
                  <a:schemeClr val="bg1"/>
                </a:solidFill>
                <a:effectLst/>
                <a:ea typeface="Times New Roman" panose="02020603050405020304" pitchFamily="18" charset="0"/>
                <a:cs typeface="Times New Roman" panose="02020603050405020304" pitchFamily="18" charset="0"/>
              </a:rPr>
              <a:t>Individuals practising a recognised profession</a:t>
            </a:r>
            <a:r>
              <a:rPr lang="en-US" sz="2400" dirty="0">
                <a:solidFill>
                  <a:schemeClr val="bg1"/>
                </a:solidFill>
                <a:effectLst/>
                <a:ea typeface="Times New Roman" panose="02020603050405020304" pitchFamily="18" charset="0"/>
                <a:cs typeface="Times New Roman" panose="02020603050405020304" pitchFamily="18" charset="0"/>
              </a:rPr>
              <a:t>, trade or vocation</a:t>
            </a:r>
            <a:endParaRPr lang="en-GH" sz="2400" dirty="0">
              <a:solidFill>
                <a:schemeClr val="bg1"/>
              </a:solidFill>
              <a:effectLst/>
              <a:ea typeface="Calibri" panose="020F0502020204030204" pitchFamily="34" charset="0"/>
              <a:cs typeface="Times New Roman" panose="02020603050405020304" pitchFamily="18" charset="0"/>
            </a:endParaRPr>
          </a:p>
          <a:p>
            <a:pPr marL="457200" lvl="0" indent="-457200">
              <a:buSzPts val="1000"/>
              <a:buFont typeface="+mj-lt"/>
              <a:buAutoNum type="arabicPeriod"/>
              <a:tabLst>
                <a:tab pos="457200" algn="l"/>
              </a:tabLst>
            </a:pPr>
            <a:r>
              <a:rPr lang="en-GH" sz="2400" dirty="0">
                <a:solidFill>
                  <a:schemeClr val="bg1"/>
                </a:solidFill>
                <a:effectLst/>
                <a:ea typeface="Times New Roman" panose="02020603050405020304" pitchFamily="18" charset="0"/>
                <a:cs typeface="Times New Roman" panose="02020603050405020304" pitchFamily="18" charset="0"/>
              </a:rPr>
              <a:t>Tertiary students preparing for careers</a:t>
            </a:r>
            <a:r>
              <a:rPr lang="en-US" sz="2400" dirty="0">
                <a:solidFill>
                  <a:schemeClr val="bg1"/>
                </a:solidFill>
                <a:ea typeface="Times New Roman" panose="02020603050405020304" pitchFamily="18" charset="0"/>
                <a:cs typeface="Times New Roman" panose="02020603050405020304" pitchFamily="18" charset="0"/>
              </a:rPr>
              <a:t> after school</a:t>
            </a:r>
            <a:endParaRPr lang="en-GH" sz="2400" dirty="0">
              <a:solidFill>
                <a:schemeClr val="bg1"/>
              </a:solidFill>
              <a:effectLst/>
              <a:ea typeface="Calibri" panose="020F0502020204030204" pitchFamily="34" charset="0"/>
              <a:cs typeface="Times New Roman" panose="02020603050405020304" pitchFamily="18" charset="0"/>
            </a:endParaRPr>
          </a:p>
          <a:p>
            <a:pPr marL="457200" lvl="0" indent="-457200">
              <a:buSzPts val="1000"/>
              <a:buFont typeface="+mj-lt"/>
              <a:buAutoNum type="arabicPeriod"/>
              <a:tabLst>
                <a:tab pos="457200" algn="l"/>
              </a:tabLst>
            </a:pPr>
            <a:r>
              <a:rPr lang="en-GH" sz="2400" dirty="0">
                <a:solidFill>
                  <a:schemeClr val="bg1"/>
                </a:solidFill>
                <a:effectLst/>
                <a:ea typeface="Times New Roman" panose="02020603050405020304" pitchFamily="18" charset="0"/>
                <a:cs typeface="Times New Roman" panose="02020603050405020304" pitchFamily="18" charset="0"/>
              </a:rPr>
              <a:t>Retired professionals willing to mentor others.</a:t>
            </a:r>
            <a:endParaRPr lang="en-US" sz="2400" dirty="0">
              <a:solidFill>
                <a:schemeClr val="bg1"/>
              </a:solidFill>
              <a:ea typeface="Times New Roman" panose="02020603050405020304" pitchFamily="18" charset="0"/>
              <a:cs typeface="Times New Roman" panose="02020603050405020304" pitchFamily="18" charset="0"/>
            </a:endParaRPr>
          </a:p>
          <a:p>
            <a:pPr lvl="0">
              <a:buSzPts val="1000"/>
              <a:tabLst>
                <a:tab pos="457200" algn="l"/>
              </a:tabLst>
            </a:pPr>
            <a:endParaRPr lang="en-US" sz="2400" dirty="0">
              <a:solidFill>
                <a:schemeClr val="bg1"/>
              </a:solidFill>
              <a:ea typeface="Calibri" panose="020F0502020204030204" pitchFamily="34" charset="0"/>
              <a:cs typeface="Times New Roman" panose="02020603050405020304" pitchFamily="18" charset="0"/>
            </a:endParaRPr>
          </a:p>
          <a:p>
            <a:pPr lvl="0">
              <a:buSzPts val="1000"/>
              <a:tabLst>
                <a:tab pos="457200" algn="l"/>
              </a:tabLst>
            </a:pPr>
            <a:r>
              <a:rPr lang="en-US" sz="2400" b="1" i="1" dirty="0">
                <a:solidFill>
                  <a:srgbClr val="996633"/>
                </a:solidFill>
                <a:ea typeface="Calibri" panose="020F0502020204030204" pitchFamily="34" charset="0"/>
                <a:cs typeface="Times New Roman" panose="02020603050405020304" pitchFamily="18" charset="0"/>
              </a:rPr>
              <a:t>Members can belong to more than one professional grouping.</a:t>
            </a:r>
            <a:endParaRPr lang="en-GH" sz="2400" b="1" i="1" dirty="0">
              <a:solidFill>
                <a:srgbClr val="996633"/>
              </a:solidFill>
              <a:effectLst/>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5CEC678-E9F9-2A68-E400-04EC72B50AF4}"/>
              </a:ext>
            </a:extLst>
          </p:cNvPr>
          <p:cNvSpPr txBox="1"/>
          <p:nvPr/>
        </p:nvSpPr>
        <p:spPr>
          <a:xfrm>
            <a:off x="4283299" y="40525"/>
            <a:ext cx="7421106" cy="707886"/>
          </a:xfrm>
          <a:prstGeom prst="rect">
            <a:avLst/>
          </a:prstGeom>
          <a:noFill/>
        </p:spPr>
        <p:txBody>
          <a:bodyPr wrap="square">
            <a:spAutoFit/>
          </a:bodyPr>
          <a:lstStyle/>
          <a:p>
            <a:pPr algn="ctr"/>
            <a:r>
              <a:rPr lang="en-US" sz="4000" b="1" kern="1800" dirty="0">
                <a:solidFill>
                  <a:srgbClr val="660066"/>
                </a:solidFill>
                <a:effectLst/>
                <a:ea typeface="Times New Roman" panose="02020603050405020304" pitchFamily="18" charset="0"/>
              </a:rPr>
              <a:t>Membership</a:t>
            </a:r>
            <a:endParaRPr lang="en-GH" sz="2400" dirty="0">
              <a:solidFill>
                <a:srgbClr val="660066"/>
              </a:solidFill>
            </a:endParaRPr>
          </a:p>
        </p:txBody>
      </p:sp>
    </p:spTree>
    <p:extLst>
      <p:ext uri="{BB962C8B-B14F-4D97-AF65-F5344CB8AC3E}">
        <p14:creationId xmlns:p14="http://schemas.microsoft.com/office/powerpoint/2010/main" val="1741348253"/>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0BC27BE-8827-4B17-3917-FEC6B56F31A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CB2C2BD-235F-C508-DDC5-B8E40E7B2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C97411FF-BEC5-C726-EB6C-B372BD0600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624B714-6DDB-B230-85F5-4C82D91061B4}"/>
              </a:ext>
            </a:extLst>
          </p:cNvPr>
          <p:cNvPicPr>
            <a:picLocks noChangeAspect="1"/>
          </p:cNvPicPr>
          <p:nvPr/>
        </p:nvPicPr>
        <p:blipFill rotWithShape="1">
          <a:blip r:embed="rId2"/>
          <a:srcRect l="7561" t="17350" b="15867"/>
          <a:stretch/>
        </p:blipFill>
        <p:spPr>
          <a:xfrm>
            <a:off x="114291" y="-30650"/>
            <a:ext cx="2168756" cy="783410"/>
          </a:xfrm>
          <a:prstGeom prst="rect">
            <a:avLst/>
          </a:prstGeom>
        </p:spPr>
      </p:pic>
      <p:sp>
        <p:nvSpPr>
          <p:cNvPr id="17" name="TextBox 16">
            <a:extLst>
              <a:ext uri="{FF2B5EF4-FFF2-40B4-BE49-F238E27FC236}">
                <a16:creationId xmlns:a16="http://schemas.microsoft.com/office/drawing/2014/main" id="{FDEDC831-BC60-5DDF-F933-9B49CF7D655B}"/>
              </a:ext>
            </a:extLst>
          </p:cNvPr>
          <p:cNvSpPr txBox="1"/>
          <p:nvPr/>
        </p:nvSpPr>
        <p:spPr>
          <a:xfrm>
            <a:off x="6384394" y="1967512"/>
            <a:ext cx="4064000" cy="954107"/>
          </a:xfrm>
          <a:prstGeom prst="rect">
            <a:avLst/>
          </a:prstGeom>
          <a:noFill/>
        </p:spPr>
        <p:txBody>
          <a:bodyPr wrap="square">
            <a:spAutoFit/>
          </a:bodyPr>
          <a:lstStyle>
            <a:defPPr>
              <a:defRPr lang="en-GH"/>
            </a:defPPr>
            <a:lvl1pPr lvl="0">
              <a:tabLst>
                <a:tab pos="457200" algn="l"/>
              </a:tabLst>
              <a:defRPr sz="1600" b="1">
                <a:effectLst/>
                <a:latin typeface="Times New Roman" panose="02020603050405020304" pitchFamily="18" charset="0"/>
                <a:ea typeface="Times New Roman" panose="02020603050405020304" pitchFamily="18" charset="0"/>
                <a:cs typeface="Arial" panose="020B0604020202020204" pitchFamily="34" charset="0"/>
              </a:defRPr>
            </a:lvl1pPr>
          </a:lstStyle>
          <a:p>
            <a:pPr marL="285750" indent="-285750">
              <a:buFont typeface="Arial" panose="020B0604020202020204" pitchFamily="34" charset="0"/>
              <a:buChar char="•"/>
            </a:pPr>
            <a:endParaRPr lang="en-US" sz="1800" dirty="0">
              <a:solidFill>
                <a:schemeClr val="bg1"/>
              </a:solidFill>
            </a:endParaRPr>
          </a:p>
          <a:p>
            <a:r>
              <a:rPr lang="en-US" sz="2000" dirty="0">
                <a:solidFill>
                  <a:schemeClr val="bg1"/>
                </a:solidFill>
                <a:latin typeface="+mn-lt"/>
              </a:rPr>
              <a:t>Meetings once every quarter.</a:t>
            </a:r>
            <a:endParaRPr lang="en-GH" sz="2000" dirty="0">
              <a:solidFill>
                <a:schemeClr val="bg1"/>
              </a:solidFill>
              <a:latin typeface="+mn-lt"/>
            </a:endParaRPr>
          </a:p>
          <a:p>
            <a:r>
              <a:rPr lang="en-GH" sz="1800" dirty="0">
                <a:solidFill>
                  <a:schemeClr val="bg1"/>
                </a:solidFill>
              </a:rPr>
              <a:t> </a:t>
            </a:r>
          </a:p>
        </p:txBody>
      </p:sp>
      <p:sp>
        <p:nvSpPr>
          <p:cNvPr id="21" name="Rectangle: Rounded Corners 20">
            <a:extLst>
              <a:ext uri="{FF2B5EF4-FFF2-40B4-BE49-F238E27FC236}">
                <a16:creationId xmlns:a16="http://schemas.microsoft.com/office/drawing/2014/main" id="{330A6AEA-E709-D899-EEC3-FAE4822709AF}"/>
              </a:ext>
            </a:extLst>
          </p:cNvPr>
          <p:cNvSpPr/>
          <p:nvPr/>
        </p:nvSpPr>
        <p:spPr>
          <a:xfrm>
            <a:off x="4698741" y="3796689"/>
            <a:ext cx="6292835" cy="28328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19" name="TextBox 18">
            <a:extLst>
              <a:ext uri="{FF2B5EF4-FFF2-40B4-BE49-F238E27FC236}">
                <a16:creationId xmlns:a16="http://schemas.microsoft.com/office/drawing/2014/main" id="{FA4E3BD9-D020-956D-BB78-6CE46756B1F0}"/>
              </a:ext>
            </a:extLst>
          </p:cNvPr>
          <p:cNvSpPr txBox="1"/>
          <p:nvPr/>
        </p:nvSpPr>
        <p:spPr>
          <a:xfrm>
            <a:off x="4996128" y="4138028"/>
            <a:ext cx="5995448" cy="1969770"/>
          </a:xfrm>
          <a:prstGeom prst="rect">
            <a:avLst/>
          </a:prstGeom>
          <a:noFill/>
        </p:spPr>
        <p:txBody>
          <a:bodyPr wrap="square">
            <a:spAutoFit/>
          </a:bodyPr>
          <a:lstStyle/>
          <a:p>
            <a:pPr lvl="0">
              <a:tabLst>
                <a:tab pos="457200" algn="l"/>
              </a:tabLst>
            </a:pPr>
            <a:r>
              <a:rPr lang="en-US" sz="1600" b="1"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dirty="0">
                <a:solidFill>
                  <a:schemeClr val="bg1"/>
                </a:solidFill>
                <a:effectLst/>
                <a:ea typeface="Times New Roman" panose="02020603050405020304" pitchFamily="18" charset="0"/>
                <a:cs typeface="Arial" panose="020B0604020202020204" pitchFamily="34" charset="0"/>
              </a:rPr>
              <a:t>The group may organize:   </a:t>
            </a:r>
          </a:p>
          <a:p>
            <a:pPr marL="342900" lvl="0" indent="-342900">
              <a:buSzPts val="1000"/>
              <a:buFont typeface="Symbol" panose="05050102010706020507" pitchFamily="18" charset="2"/>
              <a:buChar char=""/>
              <a:tabLst>
                <a:tab pos="457200" algn="l"/>
              </a:tabLst>
            </a:pPr>
            <a:r>
              <a:rPr lang="en-GH" b="1" dirty="0">
                <a:solidFill>
                  <a:schemeClr val="bg1"/>
                </a:solidFill>
                <a:effectLst/>
                <a:ea typeface="Times New Roman" panose="02020603050405020304" pitchFamily="18" charset="0"/>
                <a:cs typeface="Arial" panose="020B0604020202020204" pitchFamily="34" charset="0"/>
              </a:rPr>
              <a:t>Career talks</a:t>
            </a:r>
            <a:endParaRPr lang="en-GH"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b="1" dirty="0">
                <a:solidFill>
                  <a:schemeClr val="bg1"/>
                </a:solidFill>
                <a:effectLst/>
                <a:ea typeface="Times New Roman" panose="02020603050405020304" pitchFamily="18" charset="0"/>
                <a:cs typeface="Arial" panose="020B0604020202020204" pitchFamily="34" charset="0"/>
              </a:rPr>
              <a:t>Skills workshops</a:t>
            </a:r>
            <a:endParaRPr lang="en-GH"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b="1" dirty="0">
                <a:solidFill>
                  <a:schemeClr val="bg1"/>
                </a:solidFill>
                <a:effectLst/>
                <a:ea typeface="Times New Roman" panose="02020603050405020304" pitchFamily="18" charset="0"/>
                <a:cs typeface="Arial" panose="020B0604020202020204" pitchFamily="34" charset="0"/>
              </a:rPr>
              <a:t>Certification awareness</a:t>
            </a:r>
            <a:endParaRPr lang="en-GH"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b="1" dirty="0">
                <a:solidFill>
                  <a:schemeClr val="bg1"/>
                </a:solidFill>
                <a:effectLst/>
                <a:ea typeface="Times New Roman" panose="02020603050405020304" pitchFamily="18" charset="0"/>
                <a:cs typeface="Arial" panose="020B0604020202020204" pitchFamily="34" charset="0"/>
              </a:rPr>
              <a:t>Industry updates</a:t>
            </a:r>
            <a:endParaRPr lang="en-GH"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b="1" dirty="0">
                <a:solidFill>
                  <a:schemeClr val="bg1"/>
                </a:solidFill>
                <a:effectLst/>
                <a:ea typeface="Times New Roman" panose="02020603050405020304" pitchFamily="18" charset="0"/>
                <a:cs typeface="Arial" panose="020B0604020202020204" pitchFamily="34" charset="0"/>
              </a:rPr>
              <a:t>Leadership training</a:t>
            </a:r>
            <a:endParaRPr lang="en-GH" b="1" dirty="0">
              <a:solidFill>
                <a:schemeClr val="bg1"/>
              </a:solidFill>
              <a:effectLst/>
              <a:ea typeface="Calibri" panose="020F0502020204030204" pitchFamily="34" charset="0"/>
              <a:cs typeface="Arial" panose="020B0604020202020204" pitchFamily="34" charset="0"/>
            </a:endParaRPr>
          </a:p>
          <a:p>
            <a:pPr lvl="0">
              <a:tabLst>
                <a:tab pos="457200" algn="l"/>
              </a:tabLst>
            </a:pPr>
            <a:endParaRPr lang="en-GH" sz="1400" dirty="0">
              <a:solidFill>
                <a:schemeClr val="bg1"/>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0383E6E6-6169-5BBD-9D70-23A88FE93E78}"/>
              </a:ext>
            </a:extLst>
          </p:cNvPr>
          <p:cNvSpPr/>
          <p:nvPr/>
        </p:nvSpPr>
        <p:spPr>
          <a:xfrm>
            <a:off x="6384394" y="3451001"/>
            <a:ext cx="3218915" cy="65473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buNone/>
            </a:pPr>
            <a:endParaRPr lang="en-GH"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D437B6D-EF1C-8229-7C5E-D0F49ACB662B}"/>
              </a:ext>
            </a:extLst>
          </p:cNvPr>
          <p:cNvSpPr txBox="1"/>
          <p:nvPr/>
        </p:nvSpPr>
        <p:spPr>
          <a:xfrm>
            <a:off x="4635881" y="3466694"/>
            <a:ext cx="7009643" cy="584775"/>
          </a:xfrm>
          <a:prstGeom prst="rect">
            <a:avLst/>
          </a:prstGeom>
          <a:noFill/>
        </p:spPr>
        <p:txBody>
          <a:bodyPr wrap="square">
            <a:spAutoFit/>
          </a:bodyPr>
          <a:lstStyle/>
          <a:p>
            <a:pPr algn="ctr"/>
            <a:r>
              <a:rPr lang="en-US" sz="3200" b="1" kern="1800" dirty="0">
                <a:latin typeface="+mj-lt"/>
              </a:rPr>
              <a:t>Core Activities</a:t>
            </a:r>
            <a:endParaRPr lang="en-GH" dirty="0">
              <a:latin typeface="+mj-lt"/>
            </a:endParaRPr>
          </a:p>
        </p:txBody>
      </p:sp>
      <p:sp>
        <p:nvSpPr>
          <p:cNvPr id="18" name="TextBox 17">
            <a:extLst>
              <a:ext uri="{FF2B5EF4-FFF2-40B4-BE49-F238E27FC236}">
                <a16:creationId xmlns:a16="http://schemas.microsoft.com/office/drawing/2014/main" id="{DB3A429A-9F97-6C1C-A08D-7D833F1EA1EB}"/>
              </a:ext>
            </a:extLst>
          </p:cNvPr>
          <p:cNvSpPr txBox="1"/>
          <p:nvPr/>
        </p:nvSpPr>
        <p:spPr>
          <a:xfrm>
            <a:off x="4179584" y="0"/>
            <a:ext cx="7421106" cy="584775"/>
          </a:xfrm>
          <a:prstGeom prst="rect">
            <a:avLst/>
          </a:prstGeom>
          <a:noFill/>
        </p:spPr>
        <p:txBody>
          <a:bodyPr wrap="square">
            <a:spAutoFit/>
          </a:bodyPr>
          <a:lstStyle/>
          <a:p>
            <a:pPr algn="ctr"/>
            <a:r>
              <a:rPr lang="en-US" sz="3200" b="1" kern="1800" dirty="0">
                <a:effectLst/>
                <a:latin typeface="Times New Roman" panose="02020603050405020304" pitchFamily="18" charset="0"/>
                <a:ea typeface="Times New Roman" panose="02020603050405020304" pitchFamily="18" charset="0"/>
              </a:rPr>
              <a:t>Operational Framework</a:t>
            </a:r>
            <a:endParaRPr lang="en-GH" dirty="0"/>
          </a:p>
        </p:txBody>
      </p:sp>
      <p:sp>
        <p:nvSpPr>
          <p:cNvPr id="24" name="Rectangle: Rounded Corners 23">
            <a:extLst>
              <a:ext uri="{FF2B5EF4-FFF2-40B4-BE49-F238E27FC236}">
                <a16:creationId xmlns:a16="http://schemas.microsoft.com/office/drawing/2014/main" id="{DA90E7C6-1BB7-4EFF-3BAE-930A31EAC3AF}"/>
              </a:ext>
            </a:extLst>
          </p:cNvPr>
          <p:cNvSpPr/>
          <p:nvPr/>
        </p:nvSpPr>
        <p:spPr>
          <a:xfrm>
            <a:off x="5656082" y="1870253"/>
            <a:ext cx="4873658" cy="121833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10" name="Rectangle: Rounded Corners 9">
            <a:extLst>
              <a:ext uri="{FF2B5EF4-FFF2-40B4-BE49-F238E27FC236}">
                <a16:creationId xmlns:a16="http://schemas.microsoft.com/office/drawing/2014/main" id="{42E922D9-BD61-9484-A61A-371853DADEDB}"/>
              </a:ext>
            </a:extLst>
          </p:cNvPr>
          <p:cNvSpPr/>
          <p:nvPr/>
        </p:nvSpPr>
        <p:spPr>
          <a:xfrm>
            <a:off x="7059235" y="1411492"/>
            <a:ext cx="2198429" cy="62836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buNone/>
            </a:pPr>
            <a:endParaRPr lang="en-GH"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BADC63-BA70-2E37-BF5F-F343C8A90B1A}"/>
              </a:ext>
            </a:extLst>
          </p:cNvPr>
          <p:cNvSpPr txBox="1"/>
          <p:nvPr/>
        </p:nvSpPr>
        <p:spPr>
          <a:xfrm>
            <a:off x="7026849" y="1374890"/>
            <a:ext cx="2263199" cy="584775"/>
          </a:xfrm>
          <a:prstGeom prst="rect">
            <a:avLst/>
          </a:prstGeom>
          <a:noFill/>
        </p:spPr>
        <p:txBody>
          <a:bodyPr wrap="square">
            <a:spAutoFit/>
          </a:bodyPr>
          <a:lstStyle/>
          <a:p>
            <a:pPr algn="ctr"/>
            <a:r>
              <a:rPr lang="en-US" sz="3200" b="1" kern="1800" dirty="0">
                <a:latin typeface="+mj-lt"/>
              </a:rPr>
              <a:t>Frequency</a:t>
            </a:r>
            <a:endParaRPr lang="en-GH" dirty="0">
              <a:latin typeface="+mj-lt"/>
            </a:endParaRPr>
          </a:p>
        </p:txBody>
      </p:sp>
      <p:sp>
        <p:nvSpPr>
          <p:cNvPr id="2" name="Title 10">
            <a:extLst>
              <a:ext uri="{FF2B5EF4-FFF2-40B4-BE49-F238E27FC236}">
                <a16:creationId xmlns:a16="http://schemas.microsoft.com/office/drawing/2014/main" id="{17BC8824-9869-4DF3-8AD6-C96ECB387793}"/>
              </a:ext>
            </a:extLst>
          </p:cNvPr>
          <p:cNvSpPr>
            <a:spLocks noGrp="1"/>
          </p:cNvSpPr>
          <p:nvPr>
            <p:ph type="title"/>
          </p:nvPr>
        </p:nvSpPr>
        <p:spPr>
          <a:xfrm>
            <a:off x="853877" y="2435703"/>
            <a:ext cx="3108436" cy="1543557"/>
          </a:xfrm>
        </p:spPr>
        <p:txBody>
          <a:bodyPr>
            <a:normAutofit fontScale="90000"/>
          </a:bodyPr>
          <a:lstStyle/>
          <a:p>
            <a:r>
              <a:rPr lang="en-US" b="1" dirty="0">
                <a:cs typeface="Times New Roman" panose="02020603050405020304" pitchFamily="18" charset="0"/>
              </a:rPr>
              <a:t>Palace Professional</a:t>
            </a:r>
            <a:br>
              <a:rPr lang="en-US" b="1" dirty="0">
                <a:cs typeface="Times New Roman" panose="02020603050405020304" pitchFamily="18" charset="0"/>
              </a:rPr>
            </a:br>
            <a:r>
              <a:rPr lang="en-US" b="1" dirty="0">
                <a:cs typeface="Times New Roman" panose="02020603050405020304" pitchFamily="18" charset="0"/>
              </a:rPr>
              <a:t>Network</a:t>
            </a:r>
            <a:endParaRPr lang="en-GH" b="1" dirty="0">
              <a:cs typeface="Times New Roman" panose="02020603050405020304" pitchFamily="18" charset="0"/>
            </a:endParaRPr>
          </a:p>
        </p:txBody>
      </p:sp>
      <p:sp>
        <p:nvSpPr>
          <p:cNvPr id="6" name="TextBox 5">
            <a:extLst>
              <a:ext uri="{FF2B5EF4-FFF2-40B4-BE49-F238E27FC236}">
                <a16:creationId xmlns:a16="http://schemas.microsoft.com/office/drawing/2014/main" id="{6232B107-2EB7-1B4F-EFCB-184DDD52A2E1}"/>
              </a:ext>
            </a:extLst>
          </p:cNvPr>
          <p:cNvSpPr txBox="1"/>
          <p:nvPr/>
        </p:nvSpPr>
        <p:spPr>
          <a:xfrm>
            <a:off x="4283299" y="185365"/>
            <a:ext cx="7421106" cy="707886"/>
          </a:xfrm>
          <a:prstGeom prst="rect">
            <a:avLst/>
          </a:prstGeom>
          <a:noFill/>
        </p:spPr>
        <p:txBody>
          <a:bodyPr wrap="square">
            <a:spAutoFit/>
          </a:bodyPr>
          <a:lstStyle/>
          <a:p>
            <a:pPr algn="ctr"/>
            <a:r>
              <a:rPr lang="en-US" sz="4000" b="1" kern="1800" dirty="0">
                <a:solidFill>
                  <a:srgbClr val="660066"/>
                </a:solidFill>
                <a:effectLst/>
                <a:ea typeface="Times New Roman" panose="02020603050405020304" pitchFamily="18" charset="0"/>
              </a:rPr>
              <a:t>Meetings and Core Activities</a:t>
            </a:r>
            <a:endParaRPr lang="en-GH" sz="2400" dirty="0">
              <a:solidFill>
                <a:srgbClr val="660066"/>
              </a:solidFill>
            </a:endParaRPr>
          </a:p>
        </p:txBody>
      </p:sp>
    </p:spTree>
    <p:extLst>
      <p:ext uri="{BB962C8B-B14F-4D97-AF65-F5344CB8AC3E}">
        <p14:creationId xmlns:p14="http://schemas.microsoft.com/office/powerpoint/2010/main" val="303359926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59B8EA9-7CF2-40C8-8D2B-BF6B7A6FB6A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9410DBA-CEC7-BADF-88B7-7E9ADF2A7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C0EEB971-C63D-383D-851C-D5AC2456C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94F200A-9591-D4C7-3D28-DB544EB0760F}"/>
              </a:ext>
            </a:extLst>
          </p:cNvPr>
          <p:cNvPicPr>
            <a:picLocks noChangeAspect="1"/>
          </p:cNvPicPr>
          <p:nvPr/>
        </p:nvPicPr>
        <p:blipFill rotWithShape="1">
          <a:blip r:embed="rId2"/>
          <a:srcRect l="7561" t="17350" b="15867"/>
          <a:stretch/>
        </p:blipFill>
        <p:spPr>
          <a:xfrm>
            <a:off x="114291" y="-30650"/>
            <a:ext cx="2168756" cy="783410"/>
          </a:xfrm>
          <a:prstGeom prst="rect">
            <a:avLst/>
          </a:prstGeom>
        </p:spPr>
      </p:pic>
      <p:sp>
        <p:nvSpPr>
          <p:cNvPr id="11" name="Title 10">
            <a:extLst>
              <a:ext uri="{FF2B5EF4-FFF2-40B4-BE49-F238E27FC236}">
                <a16:creationId xmlns:a16="http://schemas.microsoft.com/office/drawing/2014/main" id="{B49A3E15-1D76-B122-5DE7-BCDE2379D120}"/>
              </a:ext>
            </a:extLst>
          </p:cNvPr>
          <p:cNvSpPr>
            <a:spLocks noGrp="1"/>
          </p:cNvSpPr>
          <p:nvPr>
            <p:ph type="title"/>
          </p:nvPr>
        </p:nvSpPr>
        <p:spPr>
          <a:xfrm>
            <a:off x="853877" y="2435703"/>
            <a:ext cx="3108436" cy="1543557"/>
          </a:xfrm>
        </p:spPr>
        <p:txBody>
          <a:bodyPr>
            <a:normAutofit fontScale="90000"/>
          </a:bodyPr>
          <a:lstStyle/>
          <a:p>
            <a:r>
              <a:rPr lang="en-US" b="1" dirty="0">
                <a:latin typeface="Times New Roman" panose="02020603050405020304" pitchFamily="18" charset="0"/>
                <a:cs typeface="Times New Roman" panose="02020603050405020304" pitchFamily="18" charset="0"/>
              </a:rPr>
              <a:t>Palace </a:t>
            </a:r>
            <a:r>
              <a:rPr lang="en-US" b="1" dirty="0">
                <a:cs typeface="Times New Roman" panose="02020603050405020304" pitchFamily="18" charset="0"/>
              </a:rPr>
              <a:t>Professional</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Network</a:t>
            </a:r>
            <a:endParaRPr lang="en-GH" b="1" dirty="0">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E82E9890-ED71-BDCE-B3D7-49A9C22B4EAF}"/>
              </a:ext>
            </a:extLst>
          </p:cNvPr>
          <p:cNvSpPr/>
          <p:nvPr/>
        </p:nvSpPr>
        <p:spPr>
          <a:xfrm>
            <a:off x="4401913" y="1776121"/>
            <a:ext cx="7581574" cy="485357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19" name="TextBox 18">
            <a:extLst>
              <a:ext uri="{FF2B5EF4-FFF2-40B4-BE49-F238E27FC236}">
                <a16:creationId xmlns:a16="http://schemas.microsoft.com/office/drawing/2014/main" id="{354E0FE1-9DF8-7754-EC8B-39F8B049DACF}"/>
              </a:ext>
            </a:extLst>
          </p:cNvPr>
          <p:cNvSpPr txBox="1"/>
          <p:nvPr/>
        </p:nvSpPr>
        <p:spPr>
          <a:xfrm>
            <a:off x="4562381" y="3598018"/>
            <a:ext cx="6747214" cy="338554"/>
          </a:xfrm>
          <a:prstGeom prst="rect">
            <a:avLst/>
          </a:prstGeom>
          <a:noFill/>
        </p:spPr>
        <p:txBody>
          <a:bodyPr wrap="square">
            <a:spAutoFit/>
          </a:bodyPr>
          <a:lstStyle/>
          <a:p>
            <a:pPr lvl="0">
              <a:tabLst>
                <a:tab pos="457200" algn="l"/>
              </a:tabLst>
            </a:pPr>
            <a:r>
              <a:rPr lang="en-US" sz="16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GH" sz="14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37D78E7A-98C8-4CB7-FF99-A15E1E1ECBB0}"/>
              </a:ext>
            </a:extLst>
          </p:cNvPr>
          <p:cNvSpPr txBox="1"/>
          <p:nvPr/>
        </p:nvSpPr>
        <p:spPr>
          <a:xfrm>
            <a:off x="6363578" y="1393741"/>
            <a:ext cx="4532882" cy="400110"/>
          </a:xfrm>
          <a:prstGeom prst="rect">
            <a:avLst/>
          </a:prstGeom>
          <a:noFill/>
        </p:spPr>
        <p:txBody>
          <a:bodyPr wrap="square">
            <a:spAutoFit/>
          </a:bodyPr>
          <a:lstStyle/>
          <a:p>
            <a:r>
              <a:rPr lang="en-GH" sz="2000" b="1" dirty="0">
                <a:latin typeface="+mj-lt"/>
                <a:cs typeface="Times New Roman" panose="02020603050405020304" pitchFamily="18" charset="0"/>
              </a:rPr>
              <a:t>Professional Services to the Church</a:t>
            </a:r>
            <a:endParaRPr lang="en-GH" sz="2000" dirty="0">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6302553B-E141-B091-1F22-73395710EFAE}"/>
              </a:ext>
            </a:extLst>
          </p:cNvPr>
          <p:cNvSpPr txBox="1"/>
          <p:nvPr/>
        </p:nvSpPr>
        <p:spPr>
          <a:xfrm>
            <a:off x="4709998" y="1975957"/>
            <a:ext cx="6094674" cy="830997"/>
          </a:xfrm>
          <a:prstGeom prst="rect">
            <a:avLst/>
          </a:prstGeom>
          <a:noFill/>
        </p:spPr>
        <p:txBody>
          <a:bodyPr wrap="square">
            <a:spAutoFit/>
          </a:bodyPr>
          <a:lstStyle/>
          <a:p>
            <a:pPr lvl="0">
              <a:tabLst>
                <a:tab pos="457200" algn="l"/>
              </a:tabLst>
            </a:pPr>
            <a:r>
              <a:rPr lang="en-US" sz="1600" b="1" dirty="0">
                <a:solidFill>
                  <a:schemeClr val="bg1"/>
                </a:solidFill>
                <a:ea typeface="Times New Roman" panose="02020603050405020304" pitchFamily="18" charset="0"/>
                <a:cs typeface="Arial" panose="020B0604020202020204" pitchFamily="34" charset="0"/>
              </a:rPr>
              <a:t>Members shall use their professional expertise by:</a:t>
            </a:r>
          </a:p>
          <a:p>
            <a:pPr lvl="0">
              <a:tabLst>
                <a:tab pos="457200" algn="l"/>
              </a:tabLst>
            </a:pPr>
            <a:endParaRPr lang="en-US" sz="1600" b="1" dirty="0">
              <a:solidFill>
                <a:schemeClr val="bg1"/>
              </a:solidFill>
              <a:effectLst/>
              <a:ea typeface="Times New Roman" panose="02020603050405020304" pitchFamily="18" charset="0"/>
              <a:cs typeface="Arial" panose="020B0604020202020204" pitchFamily="34" charset="0"/>
            </a:endParaRPr>
          </a:p>
          <a:p>
            <a:pPr marL="342900" lvl="0" indent="-342900">
              <a:buSzPts val="1000"/>
              <a:buFont typeface="Symbol" panose="05050102010706020507" pitchFamily="18" charset="2"/>
              <a:buChar char=""/>
              <a:tabLst>
                <a:tab pos="457200" algn="l"/>
              </a:tabLst>
            </a:pPr>
            <a:endParaRPr lang="en-GH" sz="1400" dirty="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94D10F33-B119-B2FC-3767-8C721F77148C}"/>
              </a:ext>
            </a:extLst>
          </p:cNvPr>
          <p:cNvSpPr txBox="1"/>
          <p:nvPr/>
        </p:nvSpPr>
        <p:spPr>
          <a:xfrm>
            <a:off x="4709998" y="2282155"/>
            <a:ext cx="6094674" cy="3970318"/>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Advising church leadership</a:t>
            </a:r>
            <a:endParaRPr lang="en-GH" sz="1600"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Supporting infrastructure projects</a:t>
            </a:r>
            <a:endParaRPr lang="en-GH" sz="1600"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Providing legal, financial, educational, healthcare, media, technology, and administrative services</a:t>
            </a:r>
            <a:endParaRPr lang="en-GH" sz="1600"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Supporting church strategic initiatives.</a:t>
            </a:r>
            <a:endParaRPr lang="en-GH" sz="1600"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Free health screening</a:t>
            </a:r>
            <a:endParaRPr lang="en-GH" sz="1600"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dirty="0">
                <a:solidFill>
                  <a:schemeClr val="bg1"/>
                </a:solidFill>
                <a:effectLst/>
                <a:ea typeface="Times New Roman" panose="02020603050405020304" pitchFamily="18" charset="0"/>
                <a:cs typeface="Arial" panose="020B0604020202020204" pitchFamily="34" charset="0"/>
              </a:rPr>
              <a:t>Partner with the church evangelism department to offer</a:t>
            </a:r>
            <a:r>
              <a:rPr lang="en-US" dirty="0">
                <a:solidFill>
                  <a:schemeClr val="bg1"/>
                </a:solidFill>
                <a:effectLst/>
                <a:ea typeface="Times New Roman" panose="02020603050405020304" pitchFamily="18" charset="0"/>
                <a:cs typeface="Arial" panose="020B0604020202020204" pitchFamily="34" charset="0"/>
              </a:rPr>
              <a:t> professional</a:t>
            </a:r>
            <a:r>
              <a:rPr lang="en-GH" dirty="0">
                <a:solidFill>
                  <a:schemeClr val="bg1"/>
                </a:solidFill>
                <a:effectLst/>
                <a:ea typeface="Times New Roman" panose="02020603050405020304" pitchFamily="18" charset="0"/>
                <a:cs typeface="Arial" panose="020B0604020202020204" pitchFamily="34" charset="0"/>
              </a:rPr>
              <a:t> services such as:</a:t>
            </a: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cs typeface="Times New Roman" panose="02020603050405020304" pitchFamily="18" charset="0"/>
              </a:rPr>
              <a:t>Legal aid clinics</a:t>
            </a:r>
            <a:endParaRPr lang="en-GH" sz="1600" i="1" dirty="0">
              <a:solidFill>
                <a:schemeClr val="bg1"/>
              </a:solidFill>
              <a:effectLst/>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cs typeface="Times New Roman" panose="02020603050405020304" pitchFamily="18" charset="0"/>
              </a:rPr>
              <a:t>Financial literacy programs</a:t>
            </a:r>
            <a:endParaRPr lang="en-GH" sz="1600" i="1" dirty="0">
              <a:solidFill>
                <a:schemeClr val="bg1"/>
              </a:solidFill>
              <a:effectLst/>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cs typeface="Times New Roman" panose="02020603050405020304" pitchFamily="18" charset="0"/>
              </a:rPr>
              <a:t>Entrepreneurship training</a:t>
            </a:r>
            <a:endParaRPr lang="en-GH" sz="1600" i="1" dirty="0">
              <a:solidFill>
                <a:schemeClr val="bg1"/>
              </a:solidFill>
              <a:effectLst/>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cs typeface="Times New Roman" panose="02020603050405020304" pitchFamily="18" charset="0"/>
              </a:rPr>
              <a:t>Educational support</a:t>
            </a:r>
            <a:endParaRPr lang="en-GH" sz="1600" i="1" dirty="0">
              <a:solidFill>
                <a:schemeClr val="bg1"/>
              </a:solidFill>
              <a:effectLst/>
              <a:ea typeface="Calibri" panose="020F0502020204030204" pitchFamily="34"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cs typeface="Times New Roman" panose="02020603050405020304" pitchFamily="18" charset="0"/>
              </a:rPr>
              <a:t>Technology training</a:t>
            </a:r>
            <a:endParaRPr lang="en-US" i="1" dirty="0">
              <a:solidFill>
                <a:schemeClr val="bg1"/>
              </a:solidFill>
              <a:ea typeface="Times New Roman" panose="02020603050405020304" pitchFamily="18" charset="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GH" i="1" dirty="0">
                <a:solidFill>
                  <a:schemeClr val="bg1"/>
                </a:solidFill>
                <a:effectLst/>
                <a:ea typeface="Times New Roman" panose="02020603050405020304" pitchFamily="18" charset="0"/>
              </a:rPr>
              <a:t>Environmental initiatives</a:t>
            </a:r>
            <a:endParaRPr lang="en-GH" sz="2800" i="1" dirty="0">
              <a:solidFill>
                <a:schemeClr val="bg1"/>
              </a:solidFill>
            </a:endParaRPr>
          </a:p>
        </p:txBody>
      </p:sp>
      <p:sp>
        <p:nvSpPr>
          <p:cNvPr id="13" name="TextBox 12">
            <a:extLst>
              <a:ext uri="{FF2B5EF4-FFF2-40B4-BE49-F238E27FC236}">
                <a16:creationId xmlns:a16="http://schemas.microsoft.com/office/drawing/2014/main" id="{4373DBA7-42A9-908F-E5FB-02FD083E6AA9}"/>
              </a:ext>
            </a:extLst>
          </p:cNvPr>
          <p:cNvSpPr txBox="1"/>
          <p:nvPr/>
        </p:nvSpPr>
        <p:spPr>
          <a:xfrm>
            <a:off x="4562381" y="178909"/>
            <a:ext cx="7421106" cy="707886"/>
          </a:xfrm>
          <a:prstGeom prst="rect">
            <a:avLst/>
          </a:prstGeom>
          <a:noFill/>
        </p:spPr>
        <p:txBody>
          <a:bodyPr wrap="square">
            <a:spAutoFit/>
          </a:bodyPr>
          <a:lstStyle/>
          <a:p>
            <a:pPr algn="ctr"/>
            <a:r>
              <a:rPr lang="en-US" sz="4000" b="1" kern="1800" dirty="0">
                <a:solidFill>
                  <a:srgbClr val="660066"/>
                </a:solidFill>
                <a:effectLst/>
                <a:ea typeface="Times New Roman" panose="02020603050405020304" pitchFamily="18" charset="0"/>
              </a:rPr>
              <a:t>Operational Framework</a:t>
            </a:r>
            <a:endParaRPr lang="en-GH" sz="2400" dirty="0">
              <a:solidFill>
                <a:srgbClr val="660066"/>
              </a:solidFill>
            </a:endParaRPr>
          </a:p>
        </p:txBody>
      </p:sp>
    </p:spTree>
    <p:extLst>
      <p:ext uri="{BB962C8B-B14F-4D97-AF65-F5344CB8AC3E}">
        <p14:creationId xmlns:p14="http://schemas.microsoft.com/office/powerpoint/2010/main" val="1056524643"/>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521838-B509-C01F-DB27-FD6508B305E0}"/>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853E4755-99CC-CEAA-7F7F-BF07B85C2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0BA88EFA-0A8B-8A86-2BE1-A8B28B311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0C99985-BA58-333A-0F02-3B644CBD5241}"/>
              </a:ext>
            </a:extLst>
          </p:cNvPr>
          <p:cNvPicPr>
            <a:picLocks noChangeAspect="1"/>
          </p:cNvPicPr>
          <p:nvPr/>
        </p:nvPicPr>
        <p:blipFill rotWithShape="1">
          <a:blip r:embed="rId2"/>
          <a:srcRect l="7561" t="17350" b="15867"/>
          <a:stretch/>
        </p:blipFill>
        <p:spPr>
          <a:xfrm>
            <a:off x="114291" y="-30650"/>
            <a:ext cx="2168756" cy="783410"/>
          </a:xfrm>
          <a:prstGeom prst="rect">
            <a:avLst/>
          </a:prstGeom>
        </p:spPr>
      </p:pic>
      <p:sp>
        <p:nvSpPr>
          <p:cNvPr id="11" name="Title 10">
            <a:extLst>
              <a:ext uri="{FF2B5EF4-FFF2-40B4-BE49-F238E27FC236}">
                <a16:creationId xmlns:a16="http://schemas.microsoft.com/office/drawing/2014/main" id="{57276EA0-D7CD-1F0D-CACA-5D4818B20C22}"/>
              </a:ext>
            </a:extLst>
          </p:cNvPr>
          <p:cNvSpPr>
            <a:spLocks noGrp="1"/>
          </p:cNvSpPr>
          <p:nvPr>
            <p:ph type="title"/>
          </p:nvPr>
        </p:nvSpPr>
        <p:spPr>
          <a:xfrm>
            <a:off x="853877" y="2435703"/>
            <a:ext cx="3108436" cy="1543557"/>
          </a:xfrm>
        </p:spPr>
        <p:txBody>
          <a:bodyPr>
            <a:normAutofit fontScale="90000"/>
          </a:bodyPr>
          <a:lstStyle/>
          <a:p>
            <a:r>
              <a:rPr lang="en-US" dirty="0">
                <a:latin typeface="+mn-lt"/>
                <a:cs typeface="Times New Roman" panose="02020603050405020304" pitchFamily="18" charset="0"/>
              </a:rPr>
              <a:t>Palace</a:t>
            </a:r>
            <a:r>
              <a:rPr lang="en-US" dirty="0">
                <a:latin typeface="Times New Roman" panose="02020603050405020304" pitchFamily="18" charset="0"/>
                <a:cs typeface="Times New Roman" panose="02020603050405020304" pitchFamily="18" charset="0"/>
              </a:rPr>
              <a:t> Professional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Network</a:t>
            </a:r>
            <a:endParaRPr lang="en-GH" dirty="0">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7A282127-5CB6-4C7F-AA91-E6DBEA09A71E}"/>
              </a:ext>
            </a:extLst>
          </p:cNvPr>
          <p:cNvSpPr/>
          <p:nvPr/>
        </p:nvSpPr>
        <p:spPr>
          <a:xfrm>
            <a:off x="4883686" y="1282906"/>
            <a:ext cx="6033456" cy="19712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19" name="TextBox 18">
            <a:extLst>
              <a:ext uri="{FF2B5EF4-FFF2-40B4-BE49-F238E27FC236}">
                <a16:creationId xmlns:a16="http://schemas.microsoft.com/office/drawing/2014/main" id="{1BD74905-3A4C-A162-E922-0E92138AAC50}"/>
              </a:ext>
            </a:extLst>
          </p:cNvPr>
          <p:cNvSpPr txBox="1"/>
          <p:nvPr/>
        </p:nvSpPr>
        <p:spPr>
          <a:xfrm>
            <a:off x="4769393" y="3448738"/>
            <a:ext cx="6747214" cy="338554"/>
          </a:xfrm>
          <a:prstGeom prst="rect">
            <a:avLst/>
          </a:prstGeom>
          <a:noFill/>
        </p:spPr>
        <p:txBody>
          <a:bodyPr wrap="square">
            <a:spAutoFit/>
          </a:bodyPr>
          <a:lstStyle/>
          <a:p>
            <a:pPr lvl="0">
              <a:tabLst>
                <a:tab pos="457200" algn="l"/>
              </a:tabLst>
            </a:pPr>
            <a:r>
              <a:rPr lang="en-US" sz="16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GH" sz="1400" dirty="0">
              <a:effectLst/>
              <a:latin typeface="Arial" panose="020B0604020202020204" pitchFamily="34" charset="0"/>
              <a:ea typeface="Calibri" panose="020F0502020204030204" pitchFamily="34" charset="0"/>
              <a:cs typeface="Arial" panose="020B0604020202020204" pitchFamily="34" charset="0"/>
            </a:endParaRPr>
          </a:p>
        </p:txBody>
      </p:sp>
      <p:sp>
        <p:nvSpPr>
          <p:cNvPr id="15" name="Rectangle: Rounded Corners 14">
            <a:extLst>
              <a:ext uri="{FF2B5EF4-FFF2-40B4-BE49-F238E27FC236}">
                <a16:creationId xmlns:a16="http://schemas.microsoft.com/office/drawing/2014/main" id="{4A70CFA0-63E8-4861-477F-D318F60EDFE6}"/>
              </a:ext>
            </a:extLst>
          </p:cNvPr>
          <p:cNvSpPr/>
          <p:nvPr/>
        </p:nvSpPr>
        <p:spPr>
          <a:xfrm>
            <a:off x="6606005" y="790446"/>
            <a:ext cx="3069396" cy="629429"/>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buNone/>
            </a:pPr>
            <a:endParaRPr lang="en-GH"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4FC3F8D-40BA-8D6D-D083-8962DB25327E}"/>
              </a:ext>
            </a:extLst>
          </p:cNvPr>
          <p:cNvSpPr txBox="1"/>
          <p:nvPr/>
        </p:nvSpPr>
        <p:spPr>
          <a:xfrm>
            <a:off x="6405648" y="806556"/>
            <a:ext cx="3470109" cy="523220"/>
          </a:xfrm>
          <a:prstGeom prst="rect">
            <a:avLst/>
          </a:prstGeom>
          <a:noFill/>
        </p:spPr>
        <p:txBody>
          <a:bodyPr wrap="square">
            <a:spAutoFit/>
          </a:bodyPr>
          <a:lstStyle/>
          <a:p>
            <a:pPr algn="ctr"/>
            <a:r>
              <a:rPr lang="en-GH" sz="2800" b="1" dirty="0">
                <a:effectLst/>
                <a:latin typeface="+mj-lt"/>
                <a:ea typeface="Times New Roman" panose="02020603050405020304" pitchFamily="18" charset="0"/>
              </a:rPr>
              <a:t>Reporting</a:t>
            </a:r>
            <a:endParaRPr lang="en-GH" dirty="0">
              <a:latin typeface="+mj-lt"/>
              <a:cs typeface="Times New Roman" panose="02020603050405020304" pitchFamily="18" charset="0"/>
            </a:endParaRPr>
          </a:p>
        </p:txBody>
      </p:sp>
      <p:sp>
        <p:nvSpPr>
          <p:cNvPr id="5" name="TextBox 4">
            <a:extLst>
              <a:ext uri="{FF2B5EF4-FFF2-40B4-BE49-F238E27FC236}">
                <a16:creationId xmlns:a16="http://schemas.microsoft.com/office/drawing/2014/main" id="{3D207687-1C3A-C11E-048D-54E03A201EE1}"/>
              </a:ext>
            </a:extLst>
          </p:cNvPr>
          <p:cNvSpPr txBox="1"/>
          <p:nvPr/>
        </p:nvSpPr>
        <p:spPr>
          <a:xfrm>
            <a:off x="5117609" y="1511190"/>
            <a:ext cx="5879045" cy="1600438"/>
          </a:xfrm>
          <a:prstGeom prst="rect">
            <a:avLst/>
          </a:prstGeom>
          <a:noFill/>
        </p:spPr>
        <p:txBody>
          <a:bodyPr wrap="square">
            <a:spAutoFit/>
          </a:bodyPr>
          <a:lstStyle/>
          <a:p>
            <a:pPr>
              <a:buNone/>
            </a:pPr>
            <a:r>
              <a:rPr lang="en-GH" sz="1600" b="1" dirty="0">
                <a:solidFill>
                  <a:schemeClr val="bg1"/>
                </a:solidFill>
                <a:effectLst/>
                <a:ea typeface="Times New Roman" panose="02020603050405020304" pitchFamily="18" charset="0"/>
                <a:cs typeface="Arial" panose="020B0604020202020204" pitchFamily="34" charset="0"/>
              </a:rPr>
              <a:t>Each Professional Group shall submit:</a:t>
            </a:r>
            <a:endParaRPr lang="en-US" sz="1600" b="1" dirty="0">
              <a:solidFill>
                <a:schemeClr val="bg1"/>
              </a:solidFill>
              <a:effectLst/>
              <a:ea typeface="Times New Roman" panose="02020603050405020304" pitchFamily="18" charset="0"/>
              <a:cs typeface="Arial" panose="020B0604020202020204" pitchFamily="34" charset="0"/>
            </a:endParaRPr>
          </a:p>
          <a:p>
            <a:pPr>
              <a:buNone/>
            </a:pPr>
            <a:endParaRPr lang="en-GH" sz="1600"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US" sz="1600" b="1" dirty="0">
                <a:solidFill>
                  <a:schemeClr val="bg1"/>
                </a:solidFill>
                <a:effectLst/>
                <a:ea typeface="Times New Roman" panose="02020603050405020304" pitchFamily="18" charset="0"/>
                <a:cs typeface="Arial" panose="020B0604020202020204" pitchFamily="34" charset="0"/>
              </a:rPr>
              <a:t>An </a:t>
            </a:r>
            <a:r>
              <a:rPr lang="en-GH" sz="1600" b="1" dirty="0">
                <a:solidFill>
                  <a:schemeClr val="bg1"/>
                </a:solidFill>
                <a:effectLst/>
                <a:ea typeface="Times New Roman" panose="02020603050405020304" pitchFamily="18" charset="0"/>
                <a:cs typeface="Arial" panose="020B0604020202020204" pitchFamily="34" charset="0"/>
              </a:rPr>
              <a:t>Annual report</a:t>
            </a:r>
            <a:r>
              <a:rPr lang="en-US" sz="1600" b="1" dirty="0">
                <a:solidFill>
                  <a:schemeClr val="bg1"/>
                </a:solidFill>
                <a:effectLst/>
                <a:ea typeface="Times New Roman" panose="02020603050405020304" pitchFamily="18" charset="0"/>
                <a:cs typeface="Arial" panose="020B0604020202020204" pitchFamily="34" charset="0"/>
              </a:rPr>
              <a:t> covering</a:t>
            </a:r>
            <a:endParaRPr lang="en-GH" sz="1600" b="1" dirty="0">
              <a:solidFill>
                <a:schemeClr val="bg1"/>
              </a:solidFill>
              <a:effectLst/>
              <a:ea typeface="Calibri" panose="020F0502020204030204" pitchFamily="34" charset="0"/>
              <a:cs typeface="Arial" panose="020B0604020202020204" pitchFamily="34" charset="0"/>
            </a:endParaRPr>
          </a:p>
          <a:p>
            <a:pPr marL="800100" lvl="1" indent="-342900">
              <a:buSzPts val="1000"/>
              <a:buFont typeface="+mj-lt"/>
              <a:buAutoNum type="arabicPeriod"/>
              <a:tabLst>
                <a:tab pos="914400" algn="l"/>
              </a:tabLst>
            </a:pPr>
            <a:r>
              <a:rPr lang="en-GH" sz="1600" b="1" dirty="0">
                <a:solidFill>
                  <a:schemeClr val="bg1"/>
                </a:solidFill>
                <a:effectLst/>
                <a:ea typeface="Times New Roman" panose="02020603050405020304" pitchFamily="18" charset="0"/>
                <a:cs typeface="Times New Roman" panose="02020603050405020304" pitchFamily="18" charset="0"/>
              </a:rPr>
              <a:t>Programs and initiatives</a:t>
            </a:r>
            <a:endParaRPr lang="en-GH" sz="1600" b="1" dirty="0">
              <a:solidFill>
                <a:schemeClr val="bg1"/>
              </a:solidFill>
              <a:effectLst/>
              <a:ea typeface="Calibri" panose="020F0502020204030204" pitchFamily="34" charset="0"/>
              <a:cs typeface="Times New Roman" panose="02020603050405020304" pitchFamily="18" charset="0"/>
            </a:endParaRPr>
          </a:p>
          <a:p>
            <a:pPr marL="800100" lvl="1" indent="-342900">
              <a:buSzPts val="1000"/>
              <a:buFont typeface="+mj-lt"/>
              <a:buAutoNum type="arabicPeriod"/>
              <a:tabLst>
                <a:tab pos="914400" algn="l"/>
              </a:tabLst>
            </a:pPr>
            <a:r>
              <a:rPr lang="en-GH" sz="1600" b="1" dirty="0">
                <a:solidFill>
                  <a:schemeClr val="bg1"/>
                </a:solidFill>
                <a:effectLst/>
                <a:ea typeface="Times New Roman" panose="02020603050405020304" pitchFamily="18" charset="0"/>
                <a:cs typeface="Times New Roman" panose="02020603050405020304" pitchFamily="18" charset="0"/>
              </a:rPr>
              <a:t>Membership updates</a:t>
            </a:r>
            <a:endParaRPr lang="en-GH" sz="1600" b="1" dirty="0">
              <a:solidFill>
                <a:schemeClr val="bg1"/>
              </a:solidFill>
              <a:effectLst/>
              <a:ea typeface="Calibri" panose="020F0502020204030204" pitchFamily="34" charset="0"/>
              <a:cs typeface="Times New Roman" panose="02020603050405020304" pitchFamily="18" charset="0"/>
            </a:endParaRPr>
          </a:p>
          <a:p>
            <a:pPr>
              <a:buNone/>
            </a:pPr>
            <a:r>
              <a:rPr lang="en-GH" sz="1600" b="1" dirty="0">
                <a:solidFill>
                  <a:schemeClr val="bg1"/>
                </a:solidFill>
                <a:effectLst/>
                <a:ea typeface="Times New Roman" panose="02020603050405020304" pitchFamily="18" charset="0"/>
                <a:cs typeface="Arial" panose="020B0604020202020204" pitchFamily="34" charset="0"/>
              </a:rPr>
              <a:t>  to the Resident pastor for the year under review</a:t>
            </a:r>
            <a:r>
              <a:rPr lang="en-GH" dirty="0">
                <a:effectLst/>
                <a:latin typeface="Times New Roman" panose="02020603050405020304" pitchFamily="18" charset="0"/>
                <a:ea typeface="Times New Roman" panose="02020603050405020304" pitchFamily="18" charset="0"/>
                <a:cs typeface="Arial" panose="020B0604020202020204" pitchFamily="34" charset="0"/>
              </a:rPr>
              <a:t>.</a:t>
            </a:r>
            <a:endParaRPr lang="en-GH" sz="1600" dirty="0">
              <a:effectLst/>
              <a:latin typeface="Arial" panose="020B0604020202020204" pitchFamily="34" charset="0"/>
              <a:ea typeface="Calibri" panose="020F050202020403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5465856-E2DC-C8CA-B15C-F5A59916CED8}"/>
              </a:ext>
            </a:extLst>
          </p:cNvPr>
          <p:cNvSpPr txBox="1"/>
          <p:nvPr/>
        </p:nvSpPr>
        <p:spPr>
          <a:xfrm>
            <a:off x="4974166" y="4085760"/>
            <a:ext cx="6022488" cy="2277547"/>
          </a:xfrm>
          <a:prstGeom prst="rect">
            <a:avLst/>
          </a:prstGeom>
          <a:noFill/>
        </p:spPr>
        <p:txBody>
          <a:bodyPr wrap="square">
            <a:spAutoFit/>
          </a:bodyPr>
          <a:lstStyle/>
          <a:p>
            <a:pPr>
              <a:buNone/>
            </a:pPr>
            <a:r>
              <a:rPr lang="en-US" sz="1600" b="1" dirty="0">
                <a:solidFill>
                  <a:schemeClr val="bg1"/>
                </a:solidFill>
                <a:effectLst/>
                <a:ea typeface="Times New Roman" panose="02020603050405020304" pitchFamily="18" charset="0"/>
                <a:cs typeface="Arial" panose="020B0604020202020204" pitchFamily="34" charset="0"/>
              </a:rPr>
              <a:t>Each </a:t>
            </a:r>
            <a:r>
              <a:rPr lang="en-GH" sz="1600" b="1" dirty="0">
                <a:solidFill>
                  <a:schemeClr val="bg1"/>
                </a:solidFill>
                <a:effectLst/>
                <a:ea typeface="Times New Roman" panose="02020603050405020304" pitchFamily="18" charset="0"/>
                <a:cs typeface="Arial" panose="020B0604020202020204" pitchFamily="34" charset="0"/>
              </a:rPr>
              <a:t>Professional </a:t>
            </a:r>
            <a:r>
              <a:rPr lang="en-US" sz="1600" b="1" dirty="0">
                <a:solidFill>
                  <a:schemeClr val="bg1"/>
                </a:solidFill>
                <a:effectLst/>
                <a:ea typeface="Times New Roman" panose="02020603050405020304" pitchFamily="18" charset="0"/>
                <a:cs typeface="Arial" panose="020B0604020202020204" pitchFamily="34" charset="0"/>
              </a:rPr>
              <a:t>Group</a:t>
            </a:r>
            <a:r>
              <a:rPr lang="en-GH" sz="1600" b="1" dirty="0">
                <a:solidFill>
                  <a:schemeClr val="bg1"/>
                </a:solidFill>
                <a:effectLst/>
                <a:ea typeface="Times New Roman" panose="02020603050405020304" pitchFamily="18" charset="0"/>
                <a:cs typeface="Arial" panose="020B0604020202020204" pitchFamily="34" charset="0"/>
              </a:rPr>
              <a:t> shall:</a:t>
            </a:r>
            <a:endParaRPr lang="en-US" sz="1600" b="1" dirty="0">
              <a:solidFill>
                <a:schemeClr val="bg1"/>
              </a:solidFill>
              <a:effectLst/>
              <a:ea typeface="Times New Roman" panose="02020603050405020304" pitchFamily="18" charset="0"/>
              <a:cs typeface="Arial" panose="020B0604020202020204" pitchFamily="34" charset="0"/>
            </a:endParaRPr>
          </a:p>
          <a:p>
            <a:pPr>
              <a:buNone/>
            </a:pPr>
            <a:endParaRPr lang="en-GH" sz="1400"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sz="1600" b="1" dirty="0">
                <a:solidFill>
                  <a:schemeClr val="bg1"/>
                </a:solidFill>
                <a:effectLst/>
                <a:ea typeface="Times New Roman" panose="02020603050405020304" pitchFamily="18" charset="0"/>
                <a:cs typeface="Arial" panose="020B0604020202020204" pitchFamily="34" charset="0"/>
              </a:rPr>
              <a:t>Operate in accordance with the church's constitution, policies, and doctrinal beliefs.</a:t>
            </a:r>
            <a:endParaRPr lang="en-GH" sz="1400"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sz="1600" b="1" dirty="0">
                <a:solidFill>
                  <a:schemeClr val="bg1"/>
                </a:solidFill>
                <a:effectLst/>
                <a:ea typeface="Times New Roman" panose="02020603050405020304" pitchFamily="18" charset="0"/>
                <a:cs typeface="Arial" panose="020B0604020202020204" pitchFamily="34" charset="0"/>
              </a:rPr>
              <a:t>Remain accountable to the resident pastor.</a:t>
            </a:r>
            <a:endParaRPr lang="en-GH" sz="1400"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sz="1600" b="1" dirty="0">
                <a:solidFill>
                  <a:schemeClr val="bg1"/>
                </a:solidFill>
                <a:effectLst/>
                <a:ea typeface="Times New Roman" panose="02020603050405020304" pitchFamily="18" charset="0"/>
                <a:cs typeface="Arial" panose="020B0604020202020204" pitchFamily="34" charset="0"/>
              </a:rPr>
              <a:t>Avoid activities that conflict with the church's mission or create divisions among members.</a:t>
            </a:r>
            <a:endParaRPr lang="en-GH" sz="1400" b="1" dirty="0">
              <a:solidFill>
                <a:schemeClr val="bg1"/>
              </a:solidFill>
              <a:effectLst/>
              <a:ea typeface="Calibri" panose="020F0502020204030204" pitchFamily="34" charset="0"/>
              <a:cs typeface="Arial" panose="020B0604020202020204" pitchFamily="34" charset="0"/>
            </a:endParaRPr>
          </a:p>
          <a:p>
            <a:pPr marL="342900" lvl="0" indent="-342900">
              <a:buSzPts val="1000"/>
              <a:buFont typeface="Symbol" panose="05050102010706020507" pitchFamily="18" charset="2"/>
              <a:buChar char=""/>
              <a:tabLst>
                <a:tab pos="457200" algn="l"/>
              </a:tabLst>
            </a:pPr>
            <a:r>
              <a:rPr lang="en-GH" sz="1600" b="1" dirty="0">
                <a:solidFill>
                  <a:schemeClr val="bg1"/>
                </a:solidFill>
                <a:effectLst/>
                <a:ea typeface="Times New Roman" panose="02020603050405020304" pitchFamily="18" charset="0"/>
                <a:cs typeface="Arial" panose="020B0604020202020204" pitchFamily="34" charset="0"/>
              </a:rPr>
              <a:t>Promote unity and collaboration with other ministries and church departments</a:t>
            </a:r>
            <a:r>
              <a:rPr lang="en-US" sz="1600" b="1" dirty="0">
                <a:solidFill>
                  <a:schemeClr val="bg1"/>
                </a:solidFill>
                <a:ea typeface="Times New Roman" panose="02020603050405020304" pitchFamily="18" charset="0"/>
                <a:cs typeface="Arial" panose="020B0604020202020204" pitchFamily="34" charset="0"/>
              </a:rPr>
              <a:t>.</a:t>
            </a:r>
            <a:endParaRPr lang="en-GH" sz="1400" b="1" dirty="0">
              <a:effectLst/>
              <a:ea typeface="Calibri" panose="020F0502020204030204" pitchFamily="34" charset="0"/>
              <a:cs typeface="Arial" panose="020B0604020202020204" pitchFamily="34" charset="0"/>
            </a:endParaRPr>
          </a:p>
        </p:txBody>
      </p:sp>
      <p:sp>
        <p:nvSpPr>
          <p:cNvPr id="20" name="Rectangle: Rounded Corners 19">
            <a:extLst>
              <a:ext uri="{FF2B5EF4-FFF2-40B4-BE49-F238E27FC236}">
                <a16:creationId xmlns:a16="http://schemas.microsoft.com/office/drawing/2014/main" id="{6D6E6115-A8F2-69F7-8B8D-1A546529A3E9}"/>
              </a:ext>
            </a:extLst>
          </p:cNvPr>
          <p:cNvSpPr/>
          <p:nvPr/>
        </p:nvSpPr>
        <p:spPr>
          <a:xfrm>
            <a:off x="4769393" y="3858869"/>
            <a:ext cx="6299448" cy="265946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8" name="Rectangle: Rounded Corners 7">
            <a:extLst>
              <a:ext uri="{FF2B5EF4-FFF2-40B4-BE49-F238E27FC236}">
                <a16:creationId xmlns:a16="http://schemas.microsoft.com/office/drawing/2014/main" id="{4671C592-5FA0-92C2-AD96-C6A906431A9E}"/>
              </a:ext>
            </a:extLst>
          </p:cNvPr>
          <p:cNvSpPr/>
          <p:nvPr/>
        </p:nvSpPr>
        <p:spPr>
          <a:xfrm>
            <a:off x="6531245" y="3461041"/>
            <a:ext cx="3218914" cy="638363"/>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buNone/>
            </a:pPr>
            <a:endParaRPr lang="en-GH" sz="1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469EF78-6561-9B54-4D93-257B401E0A39}"/>
              </a:ext>
            </a:extLst>
          </p:cNvPr>
          <p:cNvSpPr txBox="1"/>
          <p:nvPr/>
        </p:nvSpPr>
        <p:spPr>
          <a:xfrm>
            <a:off x="6822057" y="3468921"/>
            <a:ext cx="3811326" cy="523220"/>
          </a:xfrm>
          <a:prstGeom prst="rect">
            <a:avLst/>
          </a:prstGeom>
          <a:noFill/>
        </p:spPr>
        <p:txBody>
          <a:bodyPr wrap="square">
            <a:spAutoFit/>
          </a:bodyPr>
          <a:lstStyle/>
          <a:p>
            <a:r>
              <a:rPr lang="en-GH" sz="2800" b="1" dirty="0">
                <a:effectLst/>
                <a:latin typeface="+mj-lt"/>
                <a:ea typeface="Times New Roman" panose="02020603050405020304" pitchFamily="18" charset="0"/>
              </a:rPr>
              <a:t>Accountability</a:t>
            </a:r>
            <a:endParaRPr lang="en-GH" sz="2800" dirty="0">
              <a:latin typeface="+mj-lt"/>
              <a:cs typeface="Times New Roman" panose="02020603050405020304" pitchFamily="18" charset="0"/>
            </a:endParaRPr>
          </a:p>
        </p:txBody>
      </p:sp>
      <p:sp>
        <p:nvSpPr>
          <p:cNvPr id="6" name="TextBox 5">
            <a:extLst>
              <a:ext uri="{FF2B5EF4-FFF2-40B4-BE49-F238E27FC236}">
                <a16:creationId xmlns:a16="http://schemas.microsoft.com/office/drawing/2014/main" id="{8D310BD5-0578-356E-6076-0972CC9E5D10}"/>
              </a:ext>
            </a:extLst>
          </p:cNvPr>
          <p:cNvSpPr txBox="1"/>
          <p:nvPr/>
        </p:nvSpPr>
        <p:spPr>
          <a:xfrm>
            <a:off x="4051299" y="72469"/>
            <a:ext cx="7421106" cy="707886"/>
          </a:xfrm>
          <a:prstGeom prst="rect">
            <a:avLst/>
          </a:prstGeom>
          <a:noFill/>
        </p:spPr>
        <p:txBody>
          <a:bodyPr wrap="square">
            <a:spAutoFit/>
          </a:bodyPr>
          <a:lstStyle/>
          <a:p>
            <a:pPr algn="ctr"/>
            <a:r>
              <a:rPr lang="en-US" sz="4000" b="1" kern="1800" dirty="0">
                <a:solidFill>
                  <a:srgbClr val="660066"/>
                </a:solidFill>
                <a:effectLst/>
                <a:ea typeface="Times New Roman" panose="02020603050405020304" pitchFamily="18" charset="0"/>
              </a:rPr>
              <a:t>Operational Framework</a:t>
            </a:r>
            <a:endParaRPr lang="en-GH" sz="2400" dirty="0">
              <a:solidFill>
                <a:srgbClr val="660066"/>
              </a:solidFill>
            </a:endParaRPr>
          </a:p>
        </p:txBody>
      </p:sp>
    </p:spTree>
    <p:extLst>
      <p:ext uri="{BB962C8B-B14F-4D97-AF65-F5344CB8AC3E}">
        <p14:creationId xmlns:p14="http://schemas.microsoft.com/office/powerpoint/2010/main" val="114067974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3E997E-8EA0-AEE9-455D-738AC5197C6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921ECA6-3A73-950B-BEB2-FF9C1B2A8DA9}"/>
              </a:ext>
            </a:extLst>
          </p:cNvPr>
          <p:cNvPicPr>
            <a:picLocks noChangeAspect="1"/>
          </p:cNvPicPr>
          <p:nvPr/>
        </p:nvPicPr>
        <p:blipFill rotWithShape="1">
          <a:blip r:embed="rId2"/>
          <a:srcRect l="7561" t="17350" b="15867"/>
          <a:stretch/>
        </p:blipFill>
        <p:spPr>
          <a:xfrm>
            <a:off x="-95415" y="0"/>
            <a:ext cx="2168756" cy="783410"/>
          </a:xfrm>
          <a:prstGeom prst="rect">
            <a:avLst/>
          </a:prstGeom>
        </p:spPr>
      </p:pic>
      <p:sp>
        <p:nvSpPr>
          <p:cNvPr id="2" name="Title 1">
            <a:extLst>
              <a:ext uri="{FF2B5EF4-FFF2-40B4-BE49-F238E27FC236}">
                <a16:creationId xmlns:a16="http://schemas.microsoft.com/office/drawing/2014/main" id="{3E1327B8-B4DB-88DD-CC88-303B5273330F}"/>
              </a:ext>
            </a:extLst>
          </p:cNvPr>
          <p:cNvSpPr>
            <a:spLocks noGrp="1"/>
          </p:cNvSpPr>
          <p:nvPr>
            <p:ph type="title"/>
          </p:nvPr>
        </p:nvSpPr>
        <p:spPr>
          <a:xfrm>
            <a:off x="216009" y="1822915"/>
            <a:ext cx="6798032" cy="1113181"/>
          </a:xfrm>
        </p:spPr>
        <p:txBody>
          <a:bodyPr>
            <a:normAutofit/>
          </a:bodyPr>
          <a:lstStyle/>
          <a:p>
            <a:pPr algn="ctr"/>
            <a:r>
              <a:rPr lang="en-US" b="1" dirty="0">
                <a:solidFill>
                  <a:schemeClr val="bg1"/>
                </a:solidFill>
                <a:latin typeface="Times New Roman" panose="02020603050405020304" pitchFamily="18" charset="0"/>
                <a:cs typeface="Times New Roman" panose="02020603050405020304" pitchFamily="18" charset="0"/>
              </a:rPr>
              <a:t>Genesis 1:24-25  (KJV)</a:t>
            </a:r>
          </a:p>
        </p:txBody>
      </p:sp>
      <p:sp>
        <p:nvSpPr>
          <p:cNvPr id="15" name="Content Placeholder 14">
            <a:extLst>
              <a:ext uri="{FF2B5EF4-FFF2-40B4-BE49-F238E27FC236}">
                <a16:creationId xmlns:a16="http://schemas.microsoft.com/office/drawing/2014/main" id="{09EA541F-31C0-0231-315F-48E446ECC008}"/>
              </a:ext>
            </a:extLst>
          </p:cNvPr>
          <p:cNvSpPr txBox="1">
            <a:spLocks noGrp="1"/>
          </p:cNvSpPr>
          <p:nvPr>
            <p:ph idx="1"/>
          </p:nvPr>
        </p:nvSpPr>
        <p:spPr>
          <a:xfrm>
            <a:off x="818657" y="1319893"/>
            <a:ext cx="10515600" cy="5684698"/>
          </a:xfrm>
          <a:prstGeom prst="rect">
            <a:avLst/>
          </a:prstGeom>
          <a:noFill/>
        </p:spPr>
        <p:txBody>
          <a:bodyPr wrap="square">
            <a:spAutoFit/>
          </a:bodyPr>
          <a:lstStyle/>
          <a:p>
            <a:pPr marL="457200" lvl="0" indent="-457200">
              <a:lnSpc>
                <a:spcPct val="150000"/>
              </a:lnSpc>
              <a:buSzPts val="1000"/>
              <a:buFont typeface="+mj-lt"/>
              <a:buAutoNum type="arabicPeriod"/>
              <a:tabLst>
                <a:tab pos="457200" algn="l"/>
              </a:tabLst>
            </a:pPr>
            <a:r>
              <a:rPr lang="en-GH" sz="2000" b="1" dirty="0">
                <a:effectLst/>
                <a:ea typeface="Times New Roman" panose="02020603050405020304" pitchFamily="18" charset="0"/>
                <a:cs typeface="Arial" panose="020B0604020202020204" pitchFamily="34" charset="0"/>
              </a:rPr>
              <a:t>Enhance vocational skills, entrepreneurship, innovation, and career development through continuous learning and mentorship.</a:t>
            </a:r>
            <a:endParaRPr lang="en-GH" sz="2000" b="1" dirty="0">
              <a:effectLst/>
              <a:ea typeface="Calibri" panose="020F0502020204030204" pitchFamily="34" charset="0"/>
              <a:cs typeface="Arial" panose="020B0604020202020204" pitchFamily="34" charset="0"/>
            </a:endParaRPr>
          </a:p>
          <a:p>
            <a:pPr marL="457200" lvl="0" indent="-457200">
              <a:lnSpc>
                <a:spcPct val="150000"/>
              </a:lnSpc>
              <a:buSzPts val="1000"/>
              <a:buFont typeface="+mj-lt"/>
              <a:buAutoNum type="arabicPeriod"/>
              <a:tabLst>
                <a:tab pos="457200" algn="l"/>
              </a:tabLst>
            </a:pPr>
            <a:r>
              <a:rPr lang="en-GH" sz="2000" b="1" dirty="0">
                <a:effectLst/>
                <a:ea typeface="Times New Roman" panose="02020603050405020304" pitchFamily="18" charset="0"/>
                <a:cs typeface="Arial" panose="020B0604020202020204" pitchFamily="34" charset="0"/>
              </a:rPr>
              <a:t>Increase employment, apprenticeship, and business opportunities, particularly for young people.</a:t>
            </a:r>
            <a:endParaRPr lang="en-GH" sz="2000" b="1" dirty="0">
              <a:effectLst/>
              <a:ea typeface="Calibri" panose="020F0502020204030204" pitchFamily="34" charset="0"/>
              <a:cs typeface="Arial" panose="020B0604020202020204" pitchFamily="34" charset="0"/>
            </a:endParaRPr>
          </a:p>
          <a:p>
            <a:pPr marL="457200" lvl="0" indent="-457200">
              <a:lnSpc>
                <a:spcPct val="150000"/>
              </a:lnSpc>
              <a:buSzPts val="1000"/>
              <a:buFont typeface="+mj-lt"/>
              <a:buAutoNum type="arabicPeriod"/>
              <a:tabLst>
                <a:tab pos="457200" algn="l"/>
              </a:tabLst>
            </a:pPr>
            <a:r>
              <a:rPr lang="en-GH" sz="2000" b="1" dirty="0">
                <a:effectLst/>
                <a:ea typeface="Times New Roman" panose="02020603050405020304" pitchFamily="18" charset="0"/>
                <a:cs typeface="Arial" panose="020B0604020202020204" pitchFamily="34" charset="0"/>
              </a:rPr>
              <a:t>Strengthen the church’s capacity by mobilising members’ professional expertise, trades, and services for ministry, community development, and church growth.</a:t>
            </a:r>
            <a:endParaRPr lang="en-GH" sz="2000" b="1" dirty="0">
              <a:effectLst/>
              <a:ea typeface="Calibri" panose="020F0502020204030204" pitchFamily="34" charset="0"/>
              <a:cs typeface="Arial" panose="020B0604020202020204" pitchFamily="34" charset="0"/>
            </a:endParaRPr>
          </a:p>
          <a:p>
            <a:pPr marL="457200" lvl="0" indent="-457200">
              <a:lnSpc>
                <a:spcPct val="150000"/>
              </a:lnSpc>
              <a:buSzPts val="1000"/>
              <a:buFont typeface="+mj-lt"/>
              <a:buAutoNum type="arabicPeriod"/>
              <a:tabLst>
                <a:tab pos="457200" algn="l"/>
              </a:tabLst>
            </a:pPr>
            <a:r>
              <a:rPr lang="en-GH" sz="2000" b="1" dirty="0">
                <a:effectLst/>
                <a:ea typeface="Times New Roman" panose="02020603050405020304" pitchFamily="18" charset="0"/>
                <a:cs typeface="Arial" panose="020B0604020202020204" pitchFamily="34" charset="0"/>
              </a:rPr>
              <a:t>Develop ethical, servant-hearted leaders and promote Christian values in the workplace, business, and society.</a:t>
            </a:r>
            <a:endParaRPr lang="en-GH" sz="2000" b="1" dirty="0">
              <a:effectLst/>
              <a:ea typeface="Calibri" panose="020F0502020204030204" pitchFamily="34" charset="0"/>
              <a:cs typeface="Arial" panose="020B0604020202020204" pitchFamily="34" charset="0"/>
            </a:endParaRPr>
          </a:p>
          <a:p>
            <a:pPr marL="457200" lvl="0" indent="-457200">
              <a:lnSpc>
                <a:spcPct val="150000"/>
              </a:lnSpc>
              <a:buSzPts val="1000"/>
              <a:buFont typeface="+mj-lt"/>
              <a:buAutoNum type="arabicPeriod"/>
              <a:tabLst>
                <a:tab pos="457200" algn="l"/>
              </a:tabLst>
            </a:pPr>
            <a:r>
              <a:rPr lang="en-GH" sz="2000" b="1" dirty="0">
                <a:effectLst/>
                <a:ea typeface="Times New Roman" panose="02020603050405020304" pitchFamily="18" charset="0"/>
                <a:cs typeface="Arial" panose="020B0604020202020204" pitchFamily="34" charset="0"/>
              </a:rPr>
              <a:t>Strengthen unity, mutual support, member welfare, and economic resilience while advancing the church’s vision and the Kingdom of God</a:t>
            </a:r>
            <a:r>
              <a:rPr lang="en-US" sz="1800" b="1" dirty="0">
                <a:ea typeface="Times New Roman" panose="02020603050405020304" pitchFamily="18" charset="0"/>
                <a:cs typeface="Arial" panose="020B0604020202020204" pitchFamily="34" charset="0"/>
              </a:rPr>
              <a:t>.</a:t>
            </a:r>
            <a:endParaRPr lang="en-GH" sz="1800" b="1" dirty="0">
              <a:effectLst/>
              <a:ea typeface="Calibri" panose="020F0502020204030204" pitchFamily="34" charset="0"/>
              <a:cs typeface="Arial" panose="020B0604020202020204" pitchFamily="34" charset="0"/>
            </a:endParaRPr>
          </a:p>
          <a:p>
            <a:pPr marL="457200" lvl="0" indent="-457200">
              <a:buSzPts val="1000"/>
              <a:buFont typeface="+mj-lt"/>
              <a:buAutoNum type="arabicPeriod"/>
              <a:tabLst>
                <a:tab pos="457200" algn="l"/>
              </a:tabLst>
            </a:pPr>
            <a:endParaRPr lang="en-GH" sz="2400" dirty="0"/>
          </a:p>
        </p:txBody>
      </p:sp>
      <p:sp>
        <p:nvSpPr>
          <p:cNvPr id="18" name="Rectangle: Rounded Corners 17">
            <a:extLst>
              <a:ext uri="{FF2B5EF4-FFF2-40B4-BE49-F238E27FC236}">
                <a16:creationId xmlns:a16="http://schemas.microsoft.com/office/drawing/2014/main" id="{32F65AA8-23FC-CA9B-0D57-96F314435067}"/>
              </a:ext>
            </a:extLst>
          </p:cNvPr>
          <p:cNvSpPr/>
          <p:nvPr/>
        </p:nvSpPr>
        <p:spPr>
          <a:xfrm>
            <a:off x="301658" y="1319893"/>
            <a:ext cx="11549598" cy="544466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H" dirty="0"/>
          </a:p>
        </p:txBody>
      </p:sp>
      <p:sp>
        <p:nvSpPr>
          <p:cNvPr id="7" name="Title 1">
            <a:extLst>
              <a:ext uri="{FF2B5EF4-FFF2-40B4-BE49-F238E27FC236}">
                <a16:creationId xmlns:a16="http://schemas.microsoft.com/office/drawing/2014/main" id="{2B9B0B19-FB4B-B927-07D9-8F008C4C641A}"/>
              </a:ext>
            </a:extLst>
          </p:cNvPr>
          <p:cNvSpPr txBox="1">
            <a:spLocks/>
          </p:cNvSpPr>
          <p:nvPr/>
        </p:nvSpPr>
        <p:spPr>
          <a:xfrm>
            <a:off x="847343" y="-120034"/>
            <a:ext cx="1097708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660066"/>
                </a:solidFill>
                <a:cs typeface="Times New Roman" panose="02020603050405020304" pitchFamily="18" charset="0"/>
              </a:rPr>
              <a:t>Expected Outcomes</a:t>
            </a:r>
            <a:endParaRPr lang="en-GH" dirty="0">
              <a:solidFill>
                <a:srgbClr val="660066"/>
              </a:solidFill>
              <a:cs typeface="Times New Roman" panose="02020603050405020304" pitchFamily="18" charset="0"/>
            </a:endParaRPr>
          </a:p>
        </p:txBody>
      </p:sp>
    </p:spTree>
    <p:extLst>
      <p:ext uri="{BB962C8B-B14F-4D97-AF65-F5344CB8AC3E}">
        <p14:creationId xmlns:p14="http://schemas.microsoft.com/office/powerpoint/2010/main" val="1728128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76E11EF-77DD-4E0B-B865-6D62F34909E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25DC3E1-7D1F-3752-D7EF-E3CFD8B73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4" name="Rectangle 13">
            <a:extLst>
              <a:ext uri="{FF2B5EF4-FFF2-40B4-BE49-F238E27FC236}">
                <a16:creationId xmlns:a16="http://schemas.microsoft.com/office/drawing/2014/main" id="{9E9F24BE-E0B1-139F-6B59-5355EAFF4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696BADA-D0C5-C37D-6AB8-BE1ED6AE1D1F}"/>
              </a:ext>
            </a:extLst>
          </p:cNvPr>
          <p:cNvPicPr>
            <a:picLocks noChangeAspect="1"/>
          </p:cNvPicPr>
          <p:nvPr/>
        </p:nvPicPr>
        <p:blipFill rotWithShape="1">
          <a:blip r:embed="rId2"/>
          <a:srcRect l="7561" t="17350" b="15867"/>
          <a:stretch/>
        </p:blipFill>
        <p:spPr>
          <a:xfrm>
            <a:off x="114291" y="-30650"/>
            <a:ext cx="2168756" cy="783410"/>
          </a:xfrm>
          <a:prstGeom prst="rect">
            <a:avLst/>
          </a:prstGeom>
        </p:spPr>
      </p:pic>
      <p:sp>
        <p:nvSpPr>
          <p:cNvPr id="11" name="Title 10">
            <a:extLst>
              <a:ext uri="{FF2B5EF4-FFF2-40B4-BE49-F238E27FC236}">
                <a16:creationId xmlns:a16="http://schemas.microsoft.com/office/drawing/2014/main" id="{2B8F0279-1C8A-F72C-5EE6-EFF65EFA81F7}"/>
              </a:ext>
            </a:extLst>
          </p:cNvPr>
          <p:cNvSpPr>
            <a:spLocks noGrp="1"/>
          </p:cNvSpPr>
          <p:nvPr>
            <p:ph type="title"/>
          </p:nvPr>
        </p:nvSpPr>
        <p:spPr>
          <a:xfrm>
            <a:off x="853877" y="2435703"/>
            <a:ext cx="3108436" cy="1543557"/>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Palace Professional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Network</a:t>
            </a:r>
            <a:endParaRPr lang="en-GH"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2A1E689A-D0B5-8775-BC5E-44C39A624D2C}"/>
              </a:ext>
            </a:extLst>
          </p:cNvPr>
          <p:cNvSpPr txBox="1"/>
          <p:nvPr/>
        </p:nvSpPr>
        <p:spPr>
          <a:xfrm>
            <a:off x="4562381" y="3598018"/>
            <a:ext cx="6747214" cy="338554"/>
          </a:xfrm>
          <a:prstGeom prst="rect">
            <a:avLst/>
          </a:prstGeom>
          <a:noFill/>
        </p:spPr>
        <p:txBody>
          <a:bodyPr wrap="square">
            <a:spAutoFit/>
          </a:bodyPr>
          <a:lstStyle/>
          <a:p>
            <a:pPr lvl="0">
              <a:tabLst>
                <a:tab pos="457200" algn="l"/>
              </a:tabLst>
            </a:pPr>
            <a:r>
              <a:rPr lang="en-US" sz="1600" b="1" dirty="0">
                <a:effectLst/>
                <a:latin typeface="Times New Roman" panose="02020603050405020304" pitchFamily="18" charset="0"/>
                <a:ea typeface="Times New Roman" panose="02020603050405020304" pitchFamily="18" charset="0"/>
                <a:cs typeface="Arial" panose="020B0604020202020204" pitchFamily="34" charset="0"/>
              </a:rPr>
              <a:t> </a:t>
            </a:r>
            <a:endParaRPr lang="en-GH" sz="1400" dirty="0">
              <a:effectLst/>
              <a:latin typeface="Arial" panose="020B0604020202020204" pitchFamily="34" charset="0"/>
              <a:ea typeface="Calibri" panose="020F0502020204030204" pitchFamily="34" charset="0"/>
              <a:cs typeface="Arial" panose="020B0604020202020204" pitchFamily="34" charset="0"/>
            </a:endParaRPr>
          </a:p>
        </p:txBody>
      </p:sp>
      <p:sp>
        <p:nvSpPr>
          <p:cNvPr id="2" name="Title 3">
            <a:extLst>
              <a:ext uri="{FF2B5EF4-FFF2-40B4-BE49-F238E27FC236}">
                <a16:creationId xmlns:a16="http://schemas.microsoft.com/office/drawing/2014/main" id="{A69FC311-7E46-77CA-87D4-98A38DF17C47}"/>
              </a:ext>
            </a:extLst>
          </p:cNvPr>
          <p:cNvSpPr txBox="1">
            <a:spLocks/>
          </p:cNvSpPr>
          <p:nvPr/>
        </p:nvSpPr>
        <p:spPr>
          <a:xfrm>
            <a:off x="3115432" y="151881"/>
            <a:ext cx="7585742" cy="6008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660066"/>
                </a:solidFill>
                <a:cs typeface="Times New Roman" panose="02020603050405020304" pitchFamily="18" charset="0"/>
              </a:rPr>
              <a:t>Proposed Timelines: Roll-out Strategy</a:t>
            </a:r>
          </a:p>
        </p:txBody>
      </p:sp>
      <p:pic>
        <p:nvPicPr>
          <p:cNvPr id="5" name="Picture 4">
            <a:extLst>
              <a:ext uri="{FF2B5EF4-FFF2-40B4-BE49-F238E27FC236}">
                <a16:creationId xmlns:a16="http://schemas.microsoft.com/office/drawing/2014/main" id="{AAF96FE4-4D9D-39B6-54C2-715B6F02FAD8}"/>
              </a:ext>
            </a:extLst>
          </p:cNvPr>
          <p:cNvPicPr>
            <a:picLocks noChangeAspect="1"/>
          </p:cNvPicPr>
          <p:nvPr/>
        </p:nvPicPr>
        <p:blipFill>
          <a:blip r:embed="rId3"/>
          <a:stretch>
            <a:fillRect/>
          </a:stretch>
        </p:blipFill>
        <p:spPr>
          <a:xfrm>
            <a:off x="167354" y="978408"/>
            <a:ext cx="11858101" cy="5459337"/>
          </a:xfrm>
          <a:prstGeom prst="rect">
            <a:avLst/>
          </a:prstGeom>
          <a:ln w="38100" cap="sq">
            <a:solidFill>
              <a:srgbClr val="660066"/>
            </a:solidFill>
            <a:prstDash val="solid"/>
            <a:miter lim="800000"/>
          </a:ln>
          <a:effectLst>
            <a:outerShdw blurRad="50800" dist="38100" dir="2700000" algn="tl" rotWithShape="0">
              <a:srgbClr val="000000">
                <a:alpha val="43000"/>
              </a:srgbClr>
            </a:outerShdw>
          </a:effectLst>
        </p:spPr>
      </p:pic>
      <p:grpSp>
        <p:nvGrpSpPr>
          <p:cNvPr id="6" name="Group 5">
            <a:extLst>
              <a:ext uri="{FF2B5EF4-FFF2-40B4-BE49-F238E27FC236}">
                <a16:creationId xmlns:a16="http://schemas.microsoft.com/office/drawing/2014/main" id="{9B8A83BF-B903-0E0A-DA8B-2F44C2F7E954}"/>
              </a:ext>
            </a:extLst>
          </p:cNvPr>
          <p:cNvGrpSpPr/>
          <p:nvPr/>
        </p:nvGrpSpPr>
        <p:grpSpPr>
          <a:xfrm>
            <a:off x="0" y="2750446"/>
            <a:ext cx="11775444" cy="914069"/>
            <a:chOff x="89463" y="2205855"/>
            <a:chExt cx="11673894" cy="553135"/>
          </a:xfrm>
        </p:grpSpPr>
        <p:grpSp>
          <p:nvGrpSpPr>
            <p:cNvPr id="8" name="Group 7">
              <a:extLst>
                <a:ext uri="{FF2B5EF4-FFF2-40B4-BE49-F238E27FC236}">
                  <a16:creationId xmlns:a16="http://schemas.microsoft.com/office/drawing/2014/main" id="{FAE25F2D-3759-5916-2516-848DC091531F}"/>
                </a:ext>
              </a:extLst>
            </p:cNvPr>
            <p:cNvGrpSpPr/>
            <p:nvPr/>
          </p:nvGrpSpPr>
          <p:grpSpPr>
            <a:xfrm>
              <a:off x="207813" y="2205855"/>
              <a:ext cx="11555544" cy="466029"/>
              <a:chOff x="207813" y="2205855"/>
              <a:chExt cx="11555544" cy="466029"/>
            </a:xfrm>
          </p:grpSpPr>
          <p:sp>
            <p:nvSpPr>
              <p:cNvPr id="15" name="Rectangle: Rounded Corners 14">
                <a:extLst>
                  <a:ext uri="{FF2B5EF4-FFF2-40B4-BE49-F238E27FC236}">
                    <a16:creationId xmlns:a16="http://schemas.microsoft.com/office/drawing/2014/main" id="{DE8170E7-F804-B6E8-1160-C47AC4302783}"/>
                  </a:ext>
                </a:extLst>
              </p:cNvPr>
              <p:cNvSpPr/>
              <p:nvPr/>
            </p:nvSpPr>
            <p:spPr>
              <a:xfrm>
                <a:off x="604057" y="2262502"/>
                <a:ext cx="11159300" cy="409382"/>
              </a:xfrm>
              <a:prstGeom prst="roundRect">
                <a:avLst/>
              </a:prstGeom>
              <a:noFill/>
              <a:ln w="571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16" name="Isosceles Triangle 15">
                <a:extLst>
                  <a:ext uri="{FF2B5EF4-FFF2-40B4-BE49-F238E27FC236}">
                    <a16:creationId xmlns:a16="http://schemas.microsoft.com/office/drawing/2014/main" id="{BF3617A7-8BD1-053C-132F-64DD3FB7E55D}"/>
                  </a:ext>
                </a:extLst>
              </p:cNvPr>
              <p:cNvSpPr/>
              <p:nvPr/>
            </p:nvSpPr>
            <p:spPr>
              <a:xfrm rot="5400000">
                <a:off x="195345" y="2218323"/>
                <a:ext cx="232755" cy="207819"/>
              </a:xfrm>
              <a:prstGeom prst="triangl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
          <p:nvSpPr>
            <p:cNvPr id="10" name="TextBox 9">
              <a:extLst>
                <a:ext uri="{FF2B5EF4-FFF2-40B4-BE49-F238E27FC236}">
                  <a16:creationId xmlns:a16="http://schemas.microsoft.com/office/drawing/2014/main" id="{A37878DF-FCA5-4646-6BF7-A43FB5AB384C}"/>
                </a:ext>
              </a:extLst>
            </p:cNvPr>
            <p:cNvSpPr txBox="1"/>
            <p:nvPr/>
          </p:nvSpPr>
          <p:spPr>
            <a:xfrm>
              <a:off x="89463" y="2445885"/>
              <a:ext cx="555939" cy="313105"/>
            </a:xfrm>
            <a:prstGeom prst="rect">
              <a:avLst/>
            </a:prstGeom>
            <a:noFill/>
            <a:ln>
              <a:solidFill>
                <a:srgbClr val="FF0000"/>
              </a:solidFill>
            </a:ln>
          </p:spPr>
          <p:txBody>
            <a:bodyPr wrap="square" rtlCol="0">
              <a:spAutoFit/>
            </a:bodyPr>
            <a:lstStyle/>
            <a:p>
              <a:pPr algn="ctr"/>
              <a:r>
                <a:rPr lang="en-GB" sz="675" b="1" dirty="0">
                  <a:solidFill>
                    <a:srgbClr val="FF0000"/>
                  </a:solidFill>
                </a:rPr>
                <a:t>Current Status</a:t>
              </a:r>
            </a:p>
          </p:txBody>
        </p:sp>
      </p:grpSp>
      <p:sp>
        <p:nvSpPr>
          <p:cNvPr id="4" name="Title 3">
            <a:extLst>
              <a:ext uri="{FF2B5EF4-FFF2-40B4-BE49-F238E27FC236}">
                <a16:creationId xmlns:a16="http://schemas.microsoft.com/office/drawing/2014/main" id="{A2965CBC-F548-721E-0795-FBF6974DBAF1}"/>
              </a:ext>
            </a:extLst>
          </p:cNvPr>
          <p:cNvSpPr txBox="1">
            <a:spLocks/>
          </p:cNvSpPr>
          <p:nvPr/>
        </p:nvSpPr>
        <p:spPr>
          <a:xfrm>
            <a:off x="3276976" y="137477"/>
            <a:ext cx="7585742" cy="6008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651067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5759C2-84AA-2BB4-C448-64C3942BB2F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BE189A6-C216-29AF-3AB6-A6A62A8EE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76FB92B-313B-AFFF-B2E4-0C1D0F5C5B9F}"/>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9452" b="19625"/>
          <a:stretch>
            <a:fillRect/>
          </a:stretch>
        </p:blipFill>
        <p:spPr>
          <a:xfrm>
            <a:off x="0" y="10"/>
            <a:ext cx="9851666" cy="6857990"/>
          </a:xfrm>
          <a:prstGeom prst="rect">
            <a:avLst/>
          </a:prstGeom>
        </p:spPr>
      </p:pic>
      <p:sp>
        <p:nvSpPr>
          <p:cNvPr id="12" name="Rectangle 11">
            <a:extLst>
              <a:ext uri="{FF2B5EF4-FFF2-40B4-BE49-F238E27FC236}">
                <a16:creationId xmlns:a16="http://schemas.microsoft.com/office/drawing/2014/main" id="{66F8B3A5-7623-5206-81FA-FB97B538F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AC8397D7-3BDF-8F72-22E0-E8B236640462}"/>
              </a:ext>
            </a:extLst>
          </p:cNvPr>
          <p:cNvSpPr>
            <a:spLocks noGrp="1"/>
          </p:cNvSpPr>
          <p:nvPr>
            <p:ph type="subTitle" idx="1"/>
          </p:nvPr>
        </p:nvSpPr>
        <p:spPr>
          <a:xfrm>
            <a:off x="7919659" y="1476939"/>
            <a:ext cx="4054840" cy="1952061"/>
          </a:xfrm>
          <a:noFill/>
        </p:spPr>
        <p:txBody>
          <a:bodyPr>
            <a:normAutofit/>
          </a:bodyPr>
          <a:lstStyle/>
          <a:p>
            <a:r>
              <a:rPr lang="en-US" sz="4400" b="1" dirty="0">
                <a:solidFill>
                  <a:schemeClr val="accent5"/>
                </a:solidFill>
                <a:latin typeface="+mj-lt"/>
                <a:cs typeface="Times New Roman" panose="02020603050405020304" pitchFamily="18" charset="0"/>
              </a:rPr>
              <a:t>Palace Professional Network</a:t>
            </a:r>
          </a:p>
        </p:txBody>
      </p:sp>
      <p:pic>
        <p:nvPicPr>
          <p:cNvPr id="7" name="Picture 6">
            <a:extLst>
              <a:ext uri="{FF2B5EF4-FFF2-40B4-BE49-F238E27FC236}">
                <a16:creationId xmlns:a16="http://schemas.microsoft.com/office/drawing/2014/main" id="{073E6F2B-FE2A-D122-8E4D-8B945B3C2328}"/>
              </a:ext>
            </a:extLst>
          </p:cNvPr>
          <p:cNvPicPr>
            <a:picLocks noChangeAspect="1"/>
          </p:cNvPicPr>
          <p:nvPr/>
        </p:nvPicPr>
        <p:blipFill rotWithShape="1">
          <a:blip r:embed="rId4"/>
          <a:srcRect l="7561" t="17350" b="15867"/>
          <a:stretch/>
        </p:blipFill>
        <p:spPr>
          <a:xfrm>
            <a:off x="9567143" y="341745"/>
            <a:ext cx="2329202" cy="1175120"/>
          </a:xfrm>
          <a:prstGeom prst="rect">
            <a:avLst/>
          </a:prstGeom>
        </p:spPr>
      </p:pic>
      <p:sp>
        <p:nvSpPr>
          <p:cNvPr id="2" name="Subtitle 2">
            <a:extLst>
              <a:ext uri="{FF2B5EF4-FFF2-40B4-BE49-F238E27FC236}">
                <a16:creationId xmlns:a16="http://schemas.microsoft.com/office/drawing/2014/main" id="{E0872C6F-05E9-E2CD-CCC4-1E820307628F}"/>
              </a:ext>
            </a:extLst>
          </p:cNvPr>
          <p:cNvSpPr txBox="1">
            <a:spLocks/>
          </p:cNvSpPr>
          <p:nvPr/>
        </p:nvSpPr>
        <p:spPr>
          <a:xfrm>
            <a:off x="8160950" y="4660056"/>
            <a:ext cx="3572259" cy="1268639"/>
          </a:xfrm>
          <a:prstGeom prst="rect">
            <a:avLst/>
          </a:prstGeom>
          <a:no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400" b="1" dirty="0">
                <a:solidFill>
                  <a:schemeClr val="accent5"/>
                </a:solidFill>
                <a:latin typeface="+mj-lt"/>
                <a:cs typeface="Times New Roman" panose="02020603050405020304" pitchFamily="18" charset="0"/>
              </a:rPr>
              <a:t>Thank You</a:t>
            </a:r>
            <a:endParaRPr lang="en-GH" sz="4400" b="1" dirty="0">
              <a:solidFill>
                <a:schemeClr val="accent5"/>
              </a:solidFill>
              <a:latin typeface="+mj-lt"/>
              <a:cs typeface="Times New Roman" panose="02020603050405020304" pitchFamily="18" charset="0"/>
            </a:endParaRPr>
          </a:p>
        </p:txBody>
      </p:sp>
      <p:pic>
        <p:nvPicPr>
          <p:cNvPr id="6" name="Picture 5">
            <a:extLst>
              <a:ext uri="{FF2B5EF4-FFF2-40B4-BE49-F238E27FC236}">
                <a16:creationId xmlns:a16="http://schemas.microsoft.com/office/drawing/2014/main" id="{E1F25213-69DE-7897-D3C5-4A193F415516}"/>
              </a:ext>
            </a:extLst>
          </p:cNvPr>
          <p:cNvPicPr>
            <a:picLocks noChangeAspect="1"/>
          </p:cNvPicPr>
          <p:nvPr/>
        </p:nvPicPr>
        <p:blipFill rotWithShape="1">
          <a:blip r:embed="rId4"/>
          <a:srcRect l="7561" t="17350" b="15867"/>
          <a:stretch/>
        </p:blipFill>
        <p:spPr>
          <a:xfrm>
            <a:off x="-3047" y="-115086"/>
            <a:ext cx="2329202" cy="1175120"/>
          </a:xfrm>
          <a:prstGeom prst="rect">
            <a:avLst/>
          </a:prstGeom>
        </p:spPr>
      </p:pic>
    </p:spTree>
    <p:extLst>
      <p:ext uri="{BB962C8B-B14F-4D97-AF65-F5344CB8AC3E}">
        <p14:creationId xmlns:p14="http://schemas.microsoft.com/office/powerpoint/2010/main" val="4035469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864</Words>
  <Application>Microsoft Office PowerPoint</Application>
  <PresentationFormat>Widescreen</PresentationFormat>
  <Paragraphs>201</Paragraphs>
  <Slides>15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Calibri</vt:lpstr>
      <vt:lpstr>Calibri Light</vt:lpstr>
      <vt:lpstr>Courier New</vt:lpstr>
      <vt:lpstr>Symbol</vt:lpstr>
      <vt:lpstr>Times New Roman</vt:lpstr>
      <vt:lpstr>Office Theme</vt:lpstr>
      <vt:lpstr>PowerPoint Presentation</vt:lpstr>
      <vt:lpstr>Palace Professional Network</vt:lpstr>
      <vt:lpstr>Background to Palace Professional Network</vt:lpstr>
      <vt:lpstr>Genesis 1:24-25  (KJV)</vt:lpstr>
      <vt:lpstr>Genesis 1:24-25  (KJV)</vt:lpstr>
      <vt:lpstr>Genesis 1:24-25  (KJV)</vt:lpstr>
      <vt:lpstr>PowerPoint Presentation</vt:lpstr>
      <vt:lpstr>PowerPoint Presentation</vt:lpstr>
      <vt:lpstr>Palace Professional Network</vt:lpstr>
      <vt:lpstr>Palace Professional Network</vt:lpstr>
      <vt:lpstr>Palace Professional Network</vt:lpstr>
      <vt:lpstr>Palace Professional Network</vt:lpstr>
      <vt:lpstr>Genesis 1:24-25  (KJV)</vt:lpstr>
      <vt:lpstr>Palace Professional Network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Annang, Isaac Ofoli GIZ GH</dc:creator>
  <cp:lastModifiedBy>Annang, Isaac Ofoli GIZ GH</cp:lastModifiedBy>
  <cp:revision>6</cp:revision>
  <dcterms:created xsi:type="dcterms:W3CDTF">2026-07-21T14:07:07Z</dcterms:created>
  <dcterms:modified xsi:type="dcterms:W3CDTF">2026-08-09T16:57:49Z</dcterms:modified>
</cp:coreProperties>
</file>