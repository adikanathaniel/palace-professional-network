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6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1026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3.png"/><Relationship Id="rId4" Type="http://schemas.openxmlformats.org/officeDocument/2006/relationships/image" Target="../media/image16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claude/img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713232"/>
            <a:ext cx="1700784" cy="5577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64592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Palace Professional Network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9718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4D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IPC Professionals for Mentorship, Networking &amp; Growth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931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4D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Palace Church  •  Mobile &amp; Web Platform  •  September 2026</a:t>
            </a:r>
            <a:endParaRPr lang="en-US" sz="1100" dirty="0"/>
          </a:p>
        </p:txBody>
      </p:sp>
      <p:pic>
        <p:nvPicPr>
          <p:cNvPr id="7" name="Image 1" descr="/home/claude/img/i-0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411480"/>
            <a:ext cx="2010884" cy="3931920"/>
          </a:xfrm>
          <a:prstGeom prst="rect">
            <a:avLst/>
          </a:prstGeom>
          <a:effectLst>
            <a:outerShdw blurRad="127000" dist="38100" dir="5400000" algn="bl" rotWithShape="0">
              <a:srgbClr val="2E1065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Is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professional networking &amp; mentorship platform for IPC members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Palace Professional Network (PPN) brings every working professional in the congregation into a single, searchable directory organized by profession.</a:t>
            </a:r>
            <a:endParaRPr lang="en-US" sz="1500" dirty="0"/>
          </a:p>
          <a:p>
            <a:pPr marL="0" indent="0">
              <a:buNone/>
            </a:pPr>
            <a:r>
              <a:rPr lang="en-US" sz="80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can find each other, connect for mentorship, and grow their careers within a community of people who already share their values.</a:t>
            </a:r>
            <a:endParaRPr lang="en-US" sz="1500" dirty="0"/>
          </a:p>
          <a:p>
            <a:pPr marL="0" indent="0">
              <a:buNone/>
            </a:pPr>
            <a:r>
              <a:rPr lang="en-US" sz="80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PPN, connections happened informally, through word of mouth and Sunday conversations. PPN turns that same idea into a mobile app.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60720" y="1371600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97880" y="13716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6903720" y="13716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members already imported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0" y="2450592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97880" y="2450592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2450592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 categories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60720" y="3529584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97880" y="3529584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3529584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directory for everyone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Palace Professional Network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4773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every part of the IPC professional community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60320" cy="30175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2E106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685800" cy="6858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19156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560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0175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 across every trade and field, from healthcare to ICT, law to skilled trades, who want to be discoverable and connect with others in their profession.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91840" y="1463040"/>
            <a:ext cx="2560320" cy="30175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2E1065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66160" y="1737360"/>
            <a:ext cx="685800" cy="6858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4468" y="19156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2560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&amp; Mentees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30175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professionals offering guidance, and younger or newer professionals looking for it.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126480" y="1463040"/>
            <a:ext cx="2560320" cy="30175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2E1065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0" y="1737360"/>
            <a:ext cx="685800" cy="6858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9108" y="19156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00800" y="2560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Leadership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0" y="30175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record of the professional skill base within the congregation, useful for outreach, referrals, and support.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Palace Professional Network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7772400" y="4773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It Solves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418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4D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connections lived only in people's memories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0080" cy="640080"/>
          </a:xfrm>
          <a:prstGeom prst="ellipse">
            <a:avLst/>
          </a:prstGeom>
          <a:solidFill>
            <a:srgbClr val="D4A64A"/>
          </a:solidFill>
          <a:ln w="12700">
            <a:solidFill>
              <a:srgbClr val="D4A64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1" y="18580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6002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directory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20116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4D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professions and contact details lived nowhere but in individual memories.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640080" cy="640080"/>
          </a:xfrm>
          <a:prstGeom prst="ellipse">
            <a:avLst/>
          </a:prstGeom>
          <a:solidFill>
            <a:srgbClr val="D4A64A"/>
          </a:solidFill>
          <a:ln w="12700">
            <a:solidFill>
              <a:srgbClr val="D4A64A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1" y="286390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26060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find the right person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1463040" y="30175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4D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search “who in the church is a lawyer” or “who works in tech.”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703320"/>
            <a:ext cx="640080" cy="640080"/>
          </a:xfrm>
          <a:prstGeom prst="ellipse">
            <a:avLst/>
          </a:prstGeom>
          <a:solidFill>
            <a:srgbClr val="D4A64A"/>
          </a:solidFill>
          <a:ln w="12700">
            <a:solidFill>
              <a:srgbClr val="D4A64A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61" y="386974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3611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connect by profession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1463040" y="40233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4D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group space for, say, all healthcare professionals to talk to each other.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Been Built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production and working end to end: mobile app → backend → database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9164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" y="182239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6459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&amp; Accounts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286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 + PIN; all 115 members can log in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64408" y="14630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93008" y="169164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3767" y="182239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133088" y="16459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Biodata Profile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493008" y="2286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Pre-filled, editable, 12 profession categories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71616" y="14630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00216" y="169164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0975" y="182239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40296" y="16459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Directory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300216" y="2286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name or profession, browse by category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0632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85800" y="329184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559" y="342259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25880" y="32461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85800" y="3886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 messages and profession group chats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264408" y="30632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493008" y="329184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3767" y="3422599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133088" y="32461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3493008" y="3886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your PIN any time, no admin needed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071616" y="30632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300216" y="3291840"/>
            <a:ext cx="502920" cy="502920"/>
          </a:xfrm>
          <a:prstGeom prst="ellipse">
            <a:avLst/>
          </a:prstGeom>
          <a:solidFill>
            <a:srgbClr val="D4A64A"/>
          </a:solidFill>
          <a:ln w="12700">
            <a:solidFill>
              <a:srgbClr val="D4A64A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0975" y="3422599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940296" y="32461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6300216" y="3886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4D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dataset of 115 church members imported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Palace Professional Network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7772400" y="4773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6" y="554126"/>
            <a:ext cx="263347" cy="26334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4300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6217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&amp; Accounts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familiar sign-in with nothing extra to remember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828800"/>
            <a:ext cx="4389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 + PIN login: </a:t>
            </a:r>
            <a:r>
              <a:rPr lang="en-US" sz="13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email or password to remember.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member has an account: </a:t>
            </a:r>
            <a:r>
              <a:rPr lang="en-US" sz="13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115 imported members can log in immediately with a default PIN.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PIN anytime: </a:t>
            </a:r>
            <a:r>
              <a:rPr lang="en-US" sz="13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Settings tab lets members update their PIN without contacting an administrator.</a:t>
            </a:r>
            <a:endParaRPr lang="en-US" sz="1350" dirty="0"/>
          </a:p>
        </p:txBody>
      </p:sp>
      <p:pic>
        <p:nvPicPr>
          <p:cNvPr id="8" name="Image 1" descr="/home/claude/img/i-0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9063" y="384048"/>
            <a:ext cx="2346434" cy="4343400"/>
          </a:xfrm>
          <a:prstGeom prst="rect">
            <a:avLst/>
          </a:prstGeom>
          <a:effectLst>
            <a:outerShdw blurRad="127000" dist="38100" dir="5400000" algn="bl" rotWithShape="0">
              <a:srgbClr val="2E1065">
                <a:alpha val="18000"/>
              </a:srgbClr>
            </a:outerShdw>
          </a:effectLst>
        </p:spPr>
      </p:pic>
      <p:sp>
        <p:nvSpPr>
          <p:cNvPr id="9" name="Text 5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Palace Professional Network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4773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6" y="554126"/>
            <a:ext cx="263347" cy="26334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4300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6217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Biodata Profile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profile, always up to date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828800"/>
            <a:ext cx="4389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profile per member: </a:t>
            </a:r>
            <a:r>
              <a:rPr lang="en-US" sz="13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age range, gender, marital status, profession, workplace, email and profile photo.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Pre-filled &amp; editable: </a:t>
            </a:r>
            <a:r>
              <a:rPr lang="en-US" sz="13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users see their details already filled in and can update them, e.g. after changing jobs.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profession categories: </a:t>
            </a:r>
            <a:r>
              <a:rPr lang="en-US" sz="13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sub-categories for artisans and vendors.</a:t>
            </a:r>
            <a:endParaRPr lang="en-US" sz="1350" dirty="0"/>
          </a:p>
        </p:txBody>
      </p:sp>
      <p:pic>
        <p:nvPicPr>
          <p:cNvPr id="8" name="Image 1" descr="/home/claude/img/i-0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6832" y="384048"/>
            <a:ext cx="2130896" cy="4343400"/>
          </a:xfrm>
          <a:prstGeom prst="rect">
            <a:avLst/>
          </a:prstGeom>
          <a:effectLst>
            <a:outerShdw blurRad="127000" dist="38100" dir="5400000" algn="bl" rotWithShape="0">
              <a:srgbClr val="2E1065">
                <a:alpha val="18000"/>
              </a:srgbClr>
            </a:outerShdw>
          </a:effectLst>
        </p:spPr>
      </p:pic>
      <p:sp>
        <p:nvSpPr>
          <p:cNvPr id="9" name="Text 5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Palace Professional Network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4773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6" y="554126"/>
            <a:ext cx="263347" cy="26334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4300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6217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Directory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any IPC professional instantly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8288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Searchable: </a:t>
            </a:r>
            <a:r>
              <a:rPr lang="en-US" sz="13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any member by name or profession.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by category: </a:t>
            </a:r>
            <a:r>
              <a:rPr lang="en-US" sz="13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grid on the Dashboard groups the directory by profession; tap to see everyone in it.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profile view: </a:t>
            </a:r>
            <a:r>
              <a:rPr lang="en-US" sz="13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 member's workplace and details, and message them directly.</a:t>
            </a:r>
            <a:endParaRPr lang="en-US" sz="1350" dirty="0"/>
          </a:p>
        </p:txBody>
      </p:sp>
      <p:pic>
        <p:nvPicPr>
          <p:cNvPr id="8" name="Image 1" descr="/home/claude/img/i-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8695" y="502920"/>
            <a:ext cx="2010884" cy="3931920"/>
          </a:xfrm>
          <a:prstGeom prst="rect">
            <a:avLst/>
          </a:prstGeom>
          <a:effectLst>
            <a:outerShdw blurRad="127000" dist="38100" dir="5400000" algn="bl" rotWithShape="0">
              <a:srgbClr val="2E1065">
                <a:alpha val="18000"/>
              </a:srgbClr>
            </a:outerShdw>
          </a:effectLst>
        </p:spPr>
      </p:pic>
      <p:pic>
        <p:nvPicPr>
          <p:cNvPr id="9" name="Image 2" descr="/home/claude/img/i-0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2459" y="502920"/>
            <a:ext cx="2004341" cy="3931920"/>
          </a:xfrm>
          <a:prstGeom prst="rect">
            <a:avLst/>
          </a:prstGeom>
          <a:effectLst>
            <a:outerShdw blurRad="127000" dist="38100" dir="5400000" algn="bl" rotWithShape="0">
              <a:srgbClr val="2E1065">
                <a:alpha val="18000"/>
              </a:srgbClr>
            </a:outerShdw>
          </a:effectLst>
        </p:spPr>
      </p:pic>
      <p:sp>
        <p:nvSpPr>
          <p:cNvPr id="10" name="Text 5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Palace Professional Network</a:t>
            </a:r>
            <a:endParaRPr lang="en-US" sz="900" dirty="0"/>
          </a:p>
        </p:txBody>
      </p:sp>
      <p:sp>
        <p:nvSpPr>
          <p:cNvPr id="11" name="Text 6"/>
          <p:cNvSpPr txBox="1"/>
          <p:nvPr/>
        </p:nvSpPr>
        <p:spPr>
          <a:xfrm>
            <a:off x="7772400" y="4773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6" y="554126"/>
            <a:ext cx="263347" cy="26334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4300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6217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connected with your whole profession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8288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 messaging: </a:t>
            </a:r>
            <a:r>
              <a:rPr lang="en-US" sz="13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any member directly from their directory profile.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 group chats: </a:t>
            </a:r>
            <a:r>
              <a:rPr lang="en-US" sz="13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category has its own live group chat, open to everyone in it.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WebSockets: </a:t>
            </a:r>
            <a:r>
              <a:rPr lang="en-US" sz="1350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arrive instantly, with full history saved so nothing is lost.</a:t>
            </a:r>
            <a:endParaRPr lang="en-US" sz="1350" dirty="0"/>
          </a:p>
        </p:txBody>
      </p:sp>
      <p:pic>
        <p:nvPicPr>
          <p:cNvPr id="8" name="Image 1" descr="/home/claude/img/i-0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921" y="502920"/>
            <a:ext cx="1922999" cy="3931920"/>
          </a:xfrm>
          <a:prstGeom prst="rect">
            <a:avLst/>
          </a:prstGeom>
          <a:effectLst>
            <a:outerShdw blurRad="127000" dist="38100" dir="5400000" algn="bl" rotWithShape="0">
              <a:srgbClr val="2E1065">
                <a:alpha val="18000"/>
              </a:srgbClr>
            </a:outerShdw>
          </a:effectLst>
        </p:spPr>
      </p:pic>
      <p:pic>
        <p:nvPicPr>
          <p:cNvPr id="9" name="Image 2" descr="/home/claude/img/i-0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3801" y="502920"/>
            <a:ext cx="1922999" cy="3931920"/>
          </a:xfrm>
          <a:prstGeom prst="rect">
            <a:avLst/>
          </a:prstGeom>
          <a:effectLst>
            <a:outerShdw blurRad="127000" dist="38100" dir="5400000" algn="bl" rotWithShape="0">
              <a:srgbClr val="2E1065">
                <a:alpha val="18000"/>
              </a:srgbClr>
            </a:outerShdw>
          </a:effectLst>
        </p:spPr>
      </p:pic>
      <p:sp>
        <p:nvSpPr>
          <p:cNvPr id="10" name="Text 5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Palace Professional Network</a:t>
            </a:r>
            <a:endParaRPr lang="en-US" sz="900" dirty="0"/>
          </a:p>
        </p:txBody>
      </p:sp>
      <p:sp>
        <p:nvSpPr>
          <p:cNvPr id="11" name="Text 6"/>
          <p:cNvSpPr txBox="1"/>
          <p:nvPr/>
        </p:nvSpPr>
        <p:spPr>
          <a:xfrm>
            <a:off x="7772400" y="4773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at a Glance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4D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from the live production app on Android</a:t>
            </a:r>
            <a:endParaRPr lang="en-US" sz="1300" dirty="0"/>
          </a:p>
        </p:txBody>
      </p:sp>
      <p:pic>
        <p:nvPicPr>
          <p:cNvPr id="4" name="Image 0" descr="/home/claude/img/i-0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489" y="1280160"/>
            <a:ext cx="1457259" cy="2697480"/>
          </a:xfrm>
          <a:prstGeom prst="rect">
            <a:avLst/>
          </a:prstGeom>
          <a:effectLst>
            <a:outerShdw blurRad="127000" dist="38100" dir="5400000" algn="bl" rotWithShape="0">
              <a:srgbClr val="2E1065">
                <a:alpha val="18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165049" y="4114800"/>
            <a:ext cx="16401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00" dirty="0"/>
          </a:p>
        </p:txBody>
      </p:sp>
      <p:pic>
        <p:nvPicPr>
          <p:cNvPr id="6" name="Image 1" descr="/home/claude/img/i-0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5188" y="1280160"/>
            <a:ext cx="1379560" cy="2697480"/>
          </a:xfrm>
          <a:prstGeom prst="rect">
            <a:avLst/>
          </a:prstGeom>
          <a:effectLst>
            <a:outerShdw blurRad="127000" dist="38100" dir="5400000" algn="bl" rotWithShape="0">
              <a:srgbClr val="2E1065">
                <a:alpha val="18000"/>
              </a:srgbClr>
            </a:outerShdw>
          </a:effectLst>
        </p:spPr>
      </p:pic>
      <p:sp>
        <p:nvSpPr>
          <p:cNvPr id="7" name="Text 3"/>
          <p:cNvSpPr txBox="1"/>
          <p:nvPr/>
        </p:nvSpPr>
        <p:spPr>
          <a:xfrm>
            <a:off x="1713748" y="4114800"/>
            <a:ext cx="1562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pic>
        <p:nvPicPr>
          <p:cNvPr id="8" name="Image 2" descr="/home/claude/img/i-0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6188" y="1280160"/>
            <a:ext cx="1375071" cy="2697480"/>
          </a:xfrm>
          <a:prstGeom prst="rect">
            <a:avLst/>
          </a:prstGeom>
          <a:effectLst>
            <a:outerShdw blurRad="127000" dist="38100" dir="5400000" algn="bl" rotWithShape="0">
              <a:srgbClr val="2E1065">
                <a:alpha val="18000"/>
              </a:srgbClr>
            </a:outerShdw>
          </a:effectLst>
        </p:spPr>
      </p:pic>
      <p:sp>
        <p:nvSpPr>
          <p:cNvPr id="9" name="Text 4"/>
          <p:cNvSpPr txBox="1"/>
          <p:nvPr/>
        </p:nvSpPr>
        <p:spPr>
          <a:xfrm>
            <a:off x="3184748" y="4114800"/>
            <a:ext cx="15579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</a:t>
            </a:r>
            <a:endParaRPr lang="en-US" sz="1200" dirty="0"/>
          </a:p>
        </p:txBody>
      </p:sp>
      <p:pic>
        <p:nvPicPr>
          <p:cNvPr id="10" name="Image 3" descr="/home/claude/img/i-00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2699" y="1280160"/>
            <a:ext cx="1319267" cy="2697480"/>
          </a:xfrm>
          <a:prstGeom prst="rect">
            <a:avLst/>
          </a:prstGeom>
          <a:effectLst>
            <a:outerShdw blurRad="127000" dist="38100" dir="5400000" algn="bl" rotWithShape="0">
              <a:srgbClr val="2E1065">
                <a:alpha val="18000"/>
              </a:srgbClr>
            </a:outerShdw>
          </a:effectLst>
        </p:spPr>
      </p:pic>
      <p:sp>
        <p:nvSpPr>
          <p:cNvPr id="11" name="Text 5"/>
          <p:cNvSpPr txBox="1"/>
          <p:nvPr/>
        </p:nvSpPr>
        <p:spPr>
          <a:xfrm>
            <a:off x="4651259" y="4114800"/>
            <a:ext cx="15021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</a:t>
            </a:r>
            <a:endParaRPr lang="en-US" sz="1200" dirty="0"/>
          </a:p>
        </p:txBody>
      </p:sp>
      <p:pic>
        <p:nvPicPr>
          <p:cNvPr id="12" name="Image 4" descr="/home/claude/img/i-00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3406" y="1280160"/>
            <a:ext cx="1319267" cy="2697480"/>
          </a:xfrm>
          <a:prstGeom prst="rect">
            <a:avLst/>
          </a:prstGeom>
          <a:effectLst>
            <a:outerShdw blurRad="127000" dist="38100" dir="5400000" algn="bl" rotWithShape="0">
              <a:srgbClr val="2E1065">
                <a:alpha val="18000"/>
              </a:srgbClr>
            </a:outerShdw>
          </a:effectLst>
        </p:spPr>
      </p:pic>
      <p:sp>
        <p:nvSpPr>
          <p:cNvPr id="13" name="Text 6"/>
          <p:cNvSpPr txBox="1"/>
          <p:nvPr/>
        </p:nvSpPr>
        <p:spPr>
          <a:xfrm>
            <a:off x="6061966" y="4114800"/>
            <a:ext cx="15021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Chat</a:t>
            </a:r>
            <a:endParaRPr lang="en-US" sz="1200" dirty="0"/>
          </a:p>
        </p:txBody>
      </p:sp>
      <p:pic>
        <p:nvPicPr>
          <p:cNvPr id="14" name="Image 5" descr="/home/claude/img/i-00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64113" y="1280160"/>
            <a:ext cx="1323398" cy="2697480"/>
          </a:xfrm>
          <a:prstGeom prst="rect">
            <a:avLst/>
          </a:prstGeom>
          <a:effectLst>
            <a:outerShdw blurRad="127000" dist="38100" dir="5400000" algn="bl" rotWithShape="0">
              <a:srgbClr val="2E1065">
                <a:alpha val="18000"/>
              </a:srgbClr>
            </a:outerShdw>
          </a:effectLst>
        </p:spPr>
      </p:pic>
      <p:sp>
        <p:nvSpPr>
          <p:cNvPr id="15" name="Text 7"/>
          <p:cNvSpPr txBox="1"/>
          <p:nvPr/>
        </p:nvSpPr>
        <p:spPr>
          <a:xfrm>
            <a:off x="7472673" y="4114800"/>
            <a:ext cx="15062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modern, scalable system where each part can grow independently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932688"/>
          </a:xfrm>
          <a:prstGeom prst="roundRect">
            <a:avLst>
              <a:gd name="adj" fmla="val 9804"/>
            </a:avLst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18488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72" y="1756380"/>
            <a:ext cx="254569" cy="25456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490472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900" dirty="0"/>
          </a:p>
          <a:p>
            <a:pPr marL="0" indent="0">
              <a:buNone/>
            </a:pPr>
            <a:r>
              <a:rPr lang="en-US" sz="10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way members use PPN, on Android (iOS-ready)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4023360" cy="932688"/>
          </a:xfrm>
          <a:prstGeom prst="roundRect">
            <a:avLst>
              <a:gd name="adj" fmla="val 9804"/>
            </a:avLst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46320" y="1618488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4212" y="1756380"/>
            <a:ext cx="254569" cy="25456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490472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900" dirty="0"/>
          </a:p>
          <a:p>
            <a:pPr marL="0" indent="0">
              <a:buNone/>
            </a:pPr>
            <a:r>
              <a:rPr lang="en-US" sz="10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version of the platform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57200" y="2514600"/>
            <a:ext cx="4023360" cy="932688"/>
          </a:xfrm>
          <a:prstGeom prst="roundRect">
            <a:avLst>
              <a:gd name="adj" fmla="val 9804"/>
            </a:avLst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0080" y="2715768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972" y="2853660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25880" y="2587752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microservices</a:t>
            </a:r>
            <a:endParaRPr lang="en-US" sz="900" dirty="0"/>
          </a:p>
          <a:p>
            <a:pPr marL="0" indent="0">
              <a:buNone/>
            </a:pPr>
            <a:r>
              <a:rPr lang="en-US" sz="10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gateway + biodata/data service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4663440" y="2514600"/>
            <a:ext cx="4023360" cy="932688"/>
          </a:xfrm>
          <a:prstGeom prst="roundRect">
            <a:avLst>
              <a:gd name="adj" fmla="val 9804"/>
            </a:avLst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846320" y="2715768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4212" y="285366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532120" y="2587752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 (Socket.IO)</a:t>
            </a:r>
            <a:endParaRPr lang="en-US" sz="900" dirty="0"/>
          </a:p>
          <a:p>
            <a:pPr marL="0" indent="0">
              <a:buNone/>
            </a:pPr>
            <a:r>
              <a:rPr lang="en-US" sz="10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delivery for direct and group chats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457200" y="3611880"/>
            <a:ext cx="4023360" cy="932688"/>
          </a:xfrm>
          <a:prstGeom prst="roundRect">
            <a:avLst>
              <a:gd name="adj" fmla="val 9804"/>
            </a:avLst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40080" y="3813048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972" y="3950940"/>
            <a:ext cx="254569" cy="254569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325880" y="3685032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900" dirty="0"/>
          </a:p>
          <a:p>
            <a:pPr marL="0" indent="0">
              <a:buNone/>
            </a:pPr>
            <a:r>
              <a:rPr lang="en-US" sz="10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Cloud-hosted profiles, accounts, chat history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4663440" y="3611880"/>
            <a:ext cx="4023360" cy="932688"/>
          </a:xfrm>
          <a:prstGeom prst="roundRect">
            <a:avLst>
              <a:gd name="adj" fmla="val 9804"/>
            </a:avLst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4846320" y="3813048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4212" y="3950940"/>
            <a:ext cx="254569" cy="254569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532120" y="3685032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Fly.io</a:t>
            </a:r>
            <a:endParaRPr lang="en-US" sz="900" dirty="0"/>
          </a:p>
          <a:p>
            <a:pPr marL="0" indent="0">
              <a:buNone/>
            </a:pPr>
            <a:r>
              <a:rPr lang="en-US" sz="10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backend in production, worldwide</a:t>
            </a:r>
            <a:endParaRPr lang="en-US" sz="900" dirty="0"/>
          </a:p>
        </p:txBody>
      </p:sp>
      <p:sp>
        <p:nvSpPr>
          <p:cNvPr id="28" name="Text 20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Palace Professional Network</a:t>
            </a:r>
            <a:endParaRPr lang="en-US" sz="900" dirty="0"/>
          </a:p>
        </p:txBody>
      </p:sp>
      <p:sp>
        <p:nvSpPr>
          <p:cNvPr id="29" name="Text 21"/>
          <p:cNvSpPr txBox="1"/>
          <p:nvPr/>
        </p:nvSpPr>
        <p:spPr>
          <a:xfrm>
            <a:off x="7772400" y="4773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Members' data is protected at every step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560320" cy="283464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2E106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783080"/>
            <a:ext cx="731520" cy="731520"/>
          </a:xfrm>
          <a:prstGeom prst="ellipse">
            <a:avLst/>
          </a:prstGeom>
          <a:solidFill>
            <a:srgbClr val="2E1065"/>
          </a:solidFill>
          <a:ln w="12700">
            <a:solidFill>
              <a:srgbClr val="2E1065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795" y="1973275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697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in transit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1546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traffic between the app and the server uses HTTPS/WSS.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91840" y="1508760"/>
            <a:ext cx="2560320" cy="283464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2E1065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06240" y="1783080"/>
            <a:ext cx="731520" cy="731520"/>
          </a:xfrm>
          <a:prstGeom prst="ellipse">
            <a:avLst/>
          </a:prstGeom>
          <a:solidFill>
            <a:srgbClr val="2E1065"/>
          </a:solidFill>
          <a:ln w="12700">
            <a:solidFill>
              <a:srgbClr val="2E1065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6435" y="197327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74720" y="2697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 are hashed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520440" y="31546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PINs are never stored in plain text, only as one-way bcrypt hashes.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126480" y="1508760"/>
            <a:ext cx="2560320" cy="283464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2E1065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40880" y="1783080"/>
            <a:ext cx="731520" cy="731520"/>
          </a:xfrm>
          <a:prstGeom prst="ellipse">
            <a:avLst/>
          </a:prstGeom>
          <a:solidFill>
            <a:srgbClr val="2E1065"/>
          </a:solidFill>
          <a:ln w="12700">
            <a:solidFill>
              <a:srgbClr val="2E1065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1075" y="197327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09360" y="2697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by default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31546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and messages are only visible to logged-in members, never public on the internet.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Palace Professional Network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7772400" y="4773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project stands today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926080" cy="3063240"/>
          </a:xfrm>
          <a:prstGeom prst="roundRect">
            <a:avLst>
              <a:gd name="adj" fmla="val 4688"/>
            </a:avLst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7830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0175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4D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members already imported into the live system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931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D4A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PRODUCTION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463040"/>
            <a:ext cx="347472" cy="34747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251960" y="141732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production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251960" y="17373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is deployed and running on Fly.io.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224942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51960" y="220370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 real members imported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251960" y="252374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current church professional membership is in the system.</a:t>
            </a:r>
            <a:endParaRPr lang="en-US" sz="12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3035808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251960" y="299008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submission in progress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251960" y="331012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testing complete, signed release ready for the Play Store.</a:t>
            </a:r>
            <a:endParaRPr lang="en-US" sz="12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3822192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251960" y="377647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policy documents in place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4251960" y="409651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Policy and data-deletion process published for app store approval.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Palace Professional Network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7772400" y="4773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from closed testing to a thriving network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645920" y="1920240"/>
            <a:ext cx="585216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234440" y="1508760"/>
            <a:ext cx="822960" cy="82296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8410" y="17227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65760" y="2514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2788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Launch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32461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closed testing to a full production release on the Google Play Store.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160520" y="1508760"/>
            <a:ext cx="822960" cy="8229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4490" y="172273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291840" y="2514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3291840" y="2788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Onboarding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3337560" y="32461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the existing 115 members log in for the first time and set their own PIN.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086600" y="1508760"/>
            <a:ext cx="822960" cy="8229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0570" y="172273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17920" y="2514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2788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E1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Improvements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6263640" y="32461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the directory, chat and profile experience based on real member feedback.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Palace Professional Network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7772400" y="4773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82296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claude/img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1608" y="896112"/>
            <a:ext cx="1700784" cy="5577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26974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4D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Palace Professional Network: connecting IPC professionals for mentorship, networking &amp; growth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226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 smtClean="0">
                <a:solidFill>
                  <a:srgbClr val="D4A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</a:t>
            </a:r>
            <a:r>
              <a:rPr lang="en-US" sz="1300" dirty="0">
                <a:solidFill>
                  <a:srgbClr val="D4A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1000</Words>
  <Application>Microsoft Office PowerPoint</Application>
  <PresentationFormat>On-screen Show (16:9)</PresentationFormat>
  <Paragraphs>171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Palace Professional Network</dc:title>
  <dc:subject>PptxGenJS Presentation</dc:subject>
  <dc:creator>PptxGenJS</dc:creator>
  <cp:lastModifiedBy>12345</cp:lastModifiedBy>
  <cp:revision>3</cp:revision>
  <dcterms:created xsi:type="dcterms:W3CDTF">2026-09-23T20:33:27Z</dcterms:created>
  <dcterms:modified xsi:type="dcterms:W3CDTF">2026-09-23T20:40:37Z</dcterms:modified>
</cp:coreProperties>
</file>